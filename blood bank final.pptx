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317" r:id="rId5"/>
    <p:sldId id="332" r:id="rId6"/>
    <p:sldId id="322" r:id="rId7"/>
    <p:sldId id="327" r:id="rId8"/>
    <p:sldId id="333" r:id="rId9"/>
    <p:sldId id="334" r:id="rId10"/>
    <p:sldId id="326" r:id="rId11"/>
    <p:sldId id="335" r:id="rId12"/>
    <p:sldId id="339" r:id="rId13"/>
    <p:sldId id="309" r:id="rId14"/>
    <p:sldId id="336" r:id="rId15"/>
    <p:sldId id="338" r:id="rId16"/>
    <p:sldId id="344" r:id="rId17"/>
    <p:sldId id="345" r:id="rId18"/>
    <p:sldId id="346" r:id="rId19"/>
    <p:sldId id="343" r:id="rId20"/>
    <p:sldId id="331" r:id="rId21"/>
    <p:sldId id="337" r:id="rId22"/>
    <p:sldId id="340" r:id="rId23"/>
    <p:sldId id="342"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948" autoAdjust="0"/>
  </p:normalViewPr>
  <p:slideViewPr>
    <p:cSldViewPr snapToGrid="0">
      <p:cViewPr varScale="1">
        <p:scale>
          <a:sx n="72" d="100"/>
          <a:sy n="72" d="100"/>
        </p:scale>
        <p:origin x="456" y="5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iha Azam" userId="f34852a9b4b707f6" providerId="LiveId" clId="{269898F1-5935-40B4-BA8D-8C3E8AE90165}"/>
    <pc:docChg chg="modSld">
      <pc:chgData name="Madiha Azam" userId="f34852a9b4b707f6" providerId="LiveId" clId="{269898F1-5935-40B4-BA8D-8C3E8AE90165}" dt="2025-04-03T13:54:40.513" v="2" actId="14100"/>
      <pc:docMkLst>
        <pc:docMk/>
      </pc:docMkLst>
      <pc:sldChg chg="modSp mod">
        <pc:chgData name="Madiha Azam" userId="f34852a9b4b707f6" providerId="LiveId" clId="{269898F1-5935-40B4-BA8D-8C3E8AE90165}" dt="2025-04-03T13:54:40.513" v="2" actId="14100"/>
        <pc:sldMkLst>
          <pc:docMk/>
          <pc:sldMk cId="3761886133" sldId="335"/>
        </pc:sldMkLst>
        <pc:graphicFrameChg chg="mod modGraphic">
          <ac:chgData name="Madiha Azam" userId="f34852a9b4b707f6" providerId="LiveId" clId="{269898F1-5935-40B4-BA8D-8C3E8AE90165}" dt="2025-04-03T13:54:40.513" v="2" actId="14100"/>
          <ac:graphicFrameMkLst>
            <pc:docMk/>
            <pc:sldMk cId="3761886133" sldId="335"/>
            <ac:graphicFrameMk id="5" creationId="{D1628805-4048-184E-65D5-AADA8D3FEB1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4/3/2025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4/3/2025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518087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s://phpgurukul.com/blood-bank-donor-management-system-free-download/"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079204E-494B-09D2-91C0-C8D16246F780}"/>
              </a:ext>
            </a:extLst>
          </p:cNvPr>
          <p:cNvSpPr>
            <a:spLocks noGrp="1"/>
          </p:cNvSpPr>
          <p:nvPr>
            <p:ph type="title"/>
          </p:nvPr>
        </p:nvSpPr>
        <p:spPr/>
        <p:txBody>
          <a:bodyPr/>
          <a:lstStyle/>
          <a:p>
            <a:endParaRPr lang="en-IN" dirty="0"/>
          </a:p>
        </p:txBody>
      </p:sp>
      <p:sp>
        <p:nvSpPr>
          <p:cNvPr id="8" name="Content Placeholder 7">
            <a:extLst>
              <a:ext uri="{FF2B5EF4-FFF2-40B4-BE49-F238E27FC236}">
                <a16:creationId xmlns:a16="http://schemas.microsoft.com/office/drawing/2014/main" id="{6C933067-E1DB-FB52-E216-AB8337CAAEBE}"/>
              </a:ext>
            </a:extLst>
          </p:cNvPr>
          <p:cNvSpPr>
            <a:spLocks noGrp="1"/>
          </p:cNvSpPr>
          <p:nvPr>
            <p:ph sz="quarter" idx="10"/>
          </p:nvPr>
        </p:nvSpPr>
        <p:spPr>
          <a:xfrm>
            <a:off x="436880" y="2123440"/>
            <a:ext cx="10922000" cy="4196080"/>
          </a:xfrm>
        </p:spPr>
        <p:txBody>
          <a:bodyPr>
            <a:normAutofit fontScale="70000" lnSpcReduction="20000"/>
          </a:bodyPr>
          <a:lstStyle/>
          <a:p>
            <a:pPr marL="0" indent="0" algn="ctr">
              <a:buNone/>
            </a:pPr>
            <a:r>
              <a:rPr lang="en-US" sz="3600" dirty="0">
                <a:latin typeface="Dubai Medium" panose="020B0603030403030204" pitchFamily="34" charset="-78"/>
                <a:cs typeface="Dubai Medium" panose="020B0603030403030204" pitchFamily="34" charset="-78"/>
              </a:rPr>
              <a:t>Department Of Computer Science And Engineering Computer Science And Design Program</a:t>
            </a:r>
          </a:p>
          <a:p>
            <a:pPr marL="0" indent="0" algn="ctr">
              <a:buNone/>
            </a:pPr>
            <a:endParaRPr lang="en-US" sz="3600" dirty="0">
              <a:latin typeface="Dubai Medium" panose="020B0603030403030204" pitchFamily="34" charset="-78"/>
              <a:cs typeface="Dubai Medium" panose="020B0603030403030204" pitchFamily="34" charset="-78"/>
            </a:endParaRPr>
          </a:p>
          <a:p>
            <a:pPr marL="0" indent="0" algn="ctr">
              <a:buNone/>
            </a:pPr>
            <a:r>
              <a:rPr lang="en-US" sz="5700" u="sng" dirty="0">
                <a:solidFill>
                  <a:schemeClr val="accent3">
                    <a:lumMod val="50000"/>
                  </a:schemeClr>
                </a:solidFill>
                <a:latin typeface="Dubai Medium" panose="020B0603030403030204" pitchFamily="34" charset="-78"/>
                <a:cs typeface="Dubai Medium" panose="020B0603030403030204" pitchFamily="34" charset="-78"/>
              </a:rPr>
              <a:t>Presented by </a:t>
            </a:r>
            <a:endParaRPr lang="en-US" dirty="0">
              <a:solidFill>
                <a:schemeClr val="accent3">
                  <a:lumMod val="50000"/>
                </a:schemeClr>
              </a:solidFill>
              <a:latin typeface="Dubai Medium" panose="020B0603030403030204" pitchFamily="34" charset="-78"/>
              <a:cs typeface="Dubai Medium" panose="020B0603030403030204" pitchFamily="34" charset="-78"/>
            </a:endParaRPr>
          </a:p>
          <a:p>
            <a:pPr marL="0" indent="0" algn="ctr">
              <a:buNone/>
            </a:pPr>
            <a:r>
              <a:rPr lang="en-US" sz="4000" dirty="0">
                <a:solidFill>
                  <a:srgbClr val="C00000"/>
                </a:solidFill>
                <a:latin typeface="Dubai Medium" panose="020B0603030403030204" pitchFamily="34" charset="-78"/>
                <a:cs typeface="Dubai Medium" panose="020B0603030403030204" pitchFamily="34" charset="-78"/>
              </a:rPr>
              <a:t>Madiha Azam: 3PD22CG048</a:t>
            </a:r>
          </a:p>
          <a:p>
            <a:pPr marL="0" indent="0" algn="ctr">
              <a:buNone/>
            </a:pPr>
            <a:r>
              <a:rPr lang="en-US" sz="4000" dirty="0">
                <a:solidFill>
                  <a:srgbClr val="C00000"/>
                </a:solidFill>
                <a:latin typeface="Dubai Medium" panose="020B0603030403030204" pitchFamily="34" charset="-78"/>
                <a:cs typeface="Dubai Medium" panose="020B0603030403030204" pitchFamily="34" charset="-78"/>
              </a:rPr>
              <a:t>Bhagyashree C :3PD22CG006</a:t>
            </a:r>
          </a:p>
          <a:p>
            <a:pPr marL="0" indent="0" algn="ctr">
              <a:buNone/>
            </a:pPr>
            <a:endParaRPr lang="en-US" sz="4000" dirty="0">
              <a:solidFill>
                <a:srgbClr val="7030A0"/>
              </a:solidFill>
              <a:latin typeface="Dubai Medium" panose="020B0603030403030204" pitchFamily="34" charset="-78"/>
              <a:cs typeface="Dubai Medium" panose="020B0603030403030204" pitchFamily="34" charset="-78"/>
            </a:endParaRPr>
          </a:p>
          <a:p>
            <a:pPr marL="0" indent="0" algn="ctr">
              <a:buNone/>
            </a:pPr>
            <a:endParaRPr lang="en-US" dirty="0">
              <a:solidFill>
                <a:srgbClr val="7030A0"/>
              </a:solidFill>
              <a:latin typeface="Dubai Medium" panose="020B0603030403030204" pitchFamily="34" charset="-78"/>
              <a:cs typeface="Dubai Medium" panose="020B0603030403030204" pitchFamily="34" charset="-78"/>
            </a:endParaRPr>
          </a:p>
          <a:p>
            <a:pPr marL="0" indent="0" algn="ctr">
              <a:buNone/>
            </a:pPr>
            <a:r>
              <a:rPr lang="en-US" sz="5700" u="sng" dirty="0">
                <a:solidFill>
                  <a:schemeClr val="tx2">
                    <a:lumMod val="50000"/>
                  </a:schemeClr>
                </a:solidFill>
                <a:latin typeface="Dubai Medium" panose="020B0603030403030204" pitchFamily="34" charset="-78"/>
                <a:cs typeface="Dubai Medium" panose="020B0603030403030204" pitchFamily="34" charset="-78"/>
              </a:rPr>
              <a:t>Guided by</a:t>
            </a:r>
          </a:p>
          <a:p>
            <a:pPr marL="0" indent="0" algn="ctr">
              <a:buNone/>
            </a:pPr>
            <a:r>
              <a:rPr lang="en-US" sz="5200" dirty="0">
                <a:solidFill>
                  <a:srgbClr val="C00000"/>
                </a:solidFill>
                <a:latin typeface="Dubai Medium" panose="020B0603030403030204" pitchFamily="34" charset="-78"/>
                <a:cs typeface="Dubai Medium" panose="020B0603030403030204" pitchFamily="34" charset="-78"/>
              </a:rPr>
              <a:t>Dr. </a:t>
            </a:r>
            <a:r>
              <a:rPr lang="en-US" sz="5200" dirty="0" err="1">
                <a:solidFill>
                  <a:srgbClr val="C00000"/>
                </a:solidFill>
                <a:latin typeface="Dubai Medium" panose="020B0603030403030204" pitchFamily="34" charset="-78"/>
                <a:cs typeface="Dubai Medium" panose="020B0603030403030204" pitchFamily="34" charset="-78"/>
              </a:rPr>
              <a:t>Amareshwari</a:t>
            </a:r>
            <a:r>
              <a:rPr lang="en-US" sz="5200" dirty="0">
                <a:solidFill>
                  <a:srgbClr val="C00000"/>
                </a:solidFill>
                <a:latin typeface="Dubai Medium" panose="020B0603030403030204" pitchFamily="34" charset="-78"/>
                <a:cs typeface="Dubai Medium" panose="020B0603030403030204" pitchFamily="34" charset="-78"/>
              </a:rPr>
              <a:t> Patil</a:t>
            </a:r>
          </a:p>
          <a:p>
            <a:pPr marL="0" indent="0" algn="ctr">
              <a:buNone/>
            </a:pPr>
            <a:endParaRPr lang="en-US" dirty="0">
              <a:solidFill>
                <a:srgbClr val="7030A0"/>
              </a:solidFill>
              <a:latin typeface="Dubai Medium" panose="020B0603030403030204" pitchFamily="34" charset="-78"/>
              <a:cs typeface="Dubai Medium" panose="020B0603030403030204" pitchFamily="34" charset="-78"/>
            </a:endParaRPr>
          </a:p>
          <a:p>
            <a:pPr marL="0" indent="0">
              <a:buNone/>
            </a:pPr>
            <a:endParaRPr lang="en-IN" sz="1600" dirty="0">
              <a:latin typeface="Dubai Medium" panose="020B0603030403030204" pitchFamily="34" charset="-78"/>
              <a:cs typeface="Dubai Medium" panose="020B0603030403030204" pitchFamily="34" charset="-78"/>
            </a:endParaRPr>
          </a:p>
        </p:txBody>
      </p:sp>
      <p:pic>
        <p:nvPicPr>
          <p:cNvPr id="10" name="Picture 9">
            <a:extLst>
              <a:ext uri="{FF2B5EF4-FFF2-40B4-BE49-F238E27FC236}">
                <a16:creationId xmlns:a16="http://schemas.microsoft.com/office/drawing/2014/main" id="{06D8DA2B-3872-CC90-B2C3-97251CA74FD2}"/>
              </a:ext>
            </a:extLst>
          </p:cNvPr>
          <p:cNvPicPr>
            <a:picLocks noChangeAspect="1"/>
          </p:cNvPicPr>
          <p:nvPr/>
        </p:nvPicPr>
        <p:blipFill>
          <a:blip r:embed="rId3"/>
          <a:stretch>
            <a:fillRect/>
          </a:stretch>
        </p:blipFill>
        <p:spPr>
          <a:xfrm>
            <a:off x="59958" y="0"/>
            <a:ext cx="12132042" cy="1828800"/>
          </a:xfrm>
          <a:prstGeom prst="rect">
            <a:avLst/>
          </a:prstGeom>
        </p:spPr>
      </p:pic>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DD1B03-2824-7651-70ED-63A6C17203C0}"/>
              </a:ext>
            </a:extLst>
          </p:cNvPr>
          <p:cNvSpPr>
            <a:spLocks noGrp="1"/>
          </p:cNvSpPr>
          <p:nvPr>
            <p:ph type="title"/>
          </p:nvPr>
        </p:nvSpPr>
        <p:spPr>
          <a:xfrm>
            <a:off x="252248" y="283779"/>
            <a:ext cx="11634952" cy="1336299"/>
          </a:xfrm>
        </p:spPr>
        <p:txBody>
          <a:bodyPr/>
          <a:lstStyle/>
          <a:p>
            <a:pPr algn="ctr"/>
            <a:r>
              <a:rPr lang="en-US" sz="4800" b="1" dirty="0">
                <a:solidFill>
                  <a:srgbClr val="C00000"/>
                </a:solidFill>
                <a:latin typeface="Arial Rounded MT Bold" panose="020F0704030504030204" pitchFamily="34" charset="0"/>
              </a:rPr>
              <a:t> Blood Bank and Organ Donation Management System</a:t>
            </a:r>
            <a:endParaRPr lang="en-IN" sz="4800" b="1" dirty="0">
              <a:solidFill>
                <a:srgbClr val="C00000"/>
              </a:solidFill>
              <a:latin typeface="Arial Rounded MT Bold" panose="020F0704030504030204" pitchFamily="34" charset="0"/>
            </a:endParaRPr>
          </a:p>
        </p:txBody>
      </p:sp>
      <p:sp>
        <p:nvSpPr>
          <p:cNvPr id="4" name="Slide Number Placeholder 3">
            <a:extLst>
              <a:ext uri="{FF2B5EF4-FFF2-40B4-BE49-F238E27FC236}">
                <a16:creationId xmlns:a16="http://schemas.microsoft.com/office/drawing/2014/main" id="{05A99518-5B2D-7ADB-27CF-BD43178329F0}"/>
              </a:ext>
            </a:extLst>
          </p:cNvPr>
          <p:cNvSpPr>
            <a:spLocks noGrp="1"/>
          </p:cNvSpPr>
          <p:nvPr>
            <p:ph type="sldNum" sz="quarter" idx="4"/>
          </p:nvPr>
        </p:nvSpPr>
        <p:spPr/>
        <p:txBody>
          <a:bodyPr/>
          <a:lstStyle/>
          <a:p>
            <a:fld id="{58FB4751-880F-D840-AAA9-3A15815CC996}" type="slidenum">
              <a:rPr lang="en-US" smtClean="0"/>
              <a:pPr/>
              <a:t>2</a:t>
            </a:fld>
            <a:endParaRPr lang="en-US" dirty="0"/>
          </a:p>
        </p:txBody>
      </p:sp>
      <p:sp>
        <p:nvSpPr>
          <p:cNvPr id="7" name="Table Placeholder 5">
            <a:extLst>
              <a:ext uri="{FF2B5EF4-FFF2-40B4-BE49-F238E27FC236}">
                <a16:creationId xmlns:a16="http://schemas.microsoft.com/office/drawing/2014/main" id="{71A96589-C573-34EE-80FD-7886D9F7FB03}"/>
              </a:ext>
            </a:extLst>
          </p:cNvPr>
          <p:cNvSpPr txBox="1">
            <a:spLocks/>
          </p:cNvSpPr>
          <p:nvPr/>
        </p:nvSpPr>
        <p:spPr>
          <a:xfrm>
            <a:off x="993775" y="1999355"/>
            <a:ext cx="10360025" cy="3374136"/>
          </a:xfrm>
          <a:prstGeom prst="rect">
            <a:avLst/>
          </a:prstGeom>
        </p:spPr>
      </p:sp>
      <p:pic>
        <p:nvPicPr>
          <p:cNvPr id="1028" name="Picture 4" descr="Blood Bank in Chennai, Mumbai, Bangalore| Blood Donor Center | Motherhood  Hospital">
            <a:extLst>
              <a:ext uri="{FF2B5EF4-FFF2-40B4-BE49-F238E27FC236}">
                <a16:creationId xmlns:a16="http://schemas.microsoft.com/office/drawing/2014/main" id="{C1CBF24E-0698-CE49-CFD1-02B26146E0CE}"/>
              </a:ext>
            </a:extLst>
          </p:cNvPr>
          <p:cNvPicPr>
            <a:picLocks noGrp="1" noChangeAspect="1" noChangeArrowheads="1"/>
          </p:cNvPicPr>
          <p:nvPr>
            <p:ph type="tbl" sz="quarter" idx="14"/>
          </p:nvPr>
        </p:nvPicPr>
        <p:blipFill>
          <a:blip r:embed="rId2">
            <a:extLst>
              <a:ext uri="{28A0092B-C50C-407E-A947-70E740481C1C}">
                <a14:useLocalDpi xmlns:a14="http://schemas.microsoft.com/office/drawing/2010/main" val="0"/>
              </a:ext>
            </a:extLst>
          </a:blip>
          <a:srcRect/>
          <a:stretch>
            <a:fillRect/>
          </a:stretch>
        </p:blipFill>
        <p:spPr bwMode="auto">
          <a:xfrm>
            <a:off x="0" y="1620078"/>
            <a:ext cx="12192000" cy="5237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00349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3BCDD6-C4E0-A732-906F-4A681C3E2E16}"/>
              </a:ext>
            </a:extLst>
          </p:cNvPr>
          <p:cNvSpPr>
            <a:spLocks noGrp="1"/>
          </p:cNvSpPr>
          <p:nvPr>
            <p:ph type="title"/>
          </p:nvPr>
        </p:nvSpPr>
        <p:spPr>
          <a:xfrm>
            <a:off x="388883" y="777766"/>
            <a:ext cx="8060173" cy="788275"/>
          </a:xfrm>
        </p:spPr>
        <p:txBody>
          <a:bodyPr/>
          <a:lstStyle/>
          <a:p>
            <a:r>
              <a:rPr lang="en-US" sz="4400" dirty="0">
                <a:solidFill>
                  <a:srgbClr val="C00000"/>
                </a:solidFill>
                <a:latin typeface="Dubai Medium" panose="020B0603030403030204" pitchFamily="34" charset="-78"/>
                <a:cs typeface="Dubai Medium" panose="020B0603030403030204" pitchFamily="34" charset="-78"/>
              </a:rPr>
              <a:t>TABLE OF CONTENT:</a:t>
            </a:r>
            <a:endParaRPr lang="en-IN" sz="4400" dirty="0">
              <a:solidFill>
                <a:srgbClr val="C00000"/>
              </a:solidFill>
              <a:latin typeface="Dubai Medium" panose="020B0603030403030204" pitchFamily="34" charset="-78"/>
              <a:cs typeface="Dubai Medium" panose="020B0603030403030204" pitchFamily="34" charset="-78"/>
            </a:endParaRPr>
          </a:p>
        </p:txBody>
      </p:sp>
      <p:sp>
        <p:nvSpPr>
          <p:cNvPr id="5" name="Content Placeholder 4">
            <a:extLst>
              <a:ext uri="{FF2B5EF4-FFF2-40B4-BE49-F238E27FC236}">
                <a16:creationId xmlns:a16="http://schemas.microsoft.com/office/drawing/2014/main" id="{2A73E376-C682-A182-0987-CA56C8F83959}"/>
              </a:ext>
            </a:extLst>
          </p:cNvPr>
          <p:cNvSpPr>
            <a:spLocks noGrp="1"/>
          </p:cNvSpPr>
          <p:nvPr>
            <p:ph sz="quarter" idx="10"/>
          </p:nvPr>
        </p:nvSpPr>
        <p:spPr>
          <a:xfrm>
            <a:off x="914400" y="2039112"/>
            <a:ext cx="10038080" cy="4463288"/>
          </a:xfrm>
        </p:spPr>
        <p:txBody>
          <a:bodyPr>
            <a:normAutofit fontScale="92500" lnSpcReduction="10000"/>
          </a:bodyPr>
          <a:lstStyle/>
          <a:p>
            <a:r>
              <a:rPr lang="en-US" sz="3000" dirty="0">
                <a:latin typeface="Dubai Medium" panose="020B0603030403030204" pitchFamily="34" charset="-78"/>
                <a:cs typeface="Dubai Medium" panose="020B0603030403030204" pitchFamily="34" charset="-78"/>
              </a:rPr>
              <a:t>Abstract</a:t>
            </a:r>
          </a:p>
          <a:p>
            <a:r>
              <a:rPr lang="en-US" sz="3000" dirty="0">
                <a:latin typeface="Dubai Medium" panose="020B0603030403030204" pitchFamily="34" charset="-78"/>
                <a:cs typeface="Dubai Medium" panose="020B0603030403030204" pitchFamily="34" charset="-78"/>
              </a:rPr>
              <a:t>Introduction</a:t>
            </a:r>
          </a:p>
          <a:p>
            <a:r>
              <a:rPr lang="en-US" sz="3000" dirty="0">
                <a:latin typeface="Dubai Medium" panose="020B0603030403030204" pitchFamily="34" charset="-78"/>
                <a:cs typeface="Dubai Medium" panose="020B0603030403030204" pitchFamily="34" charset="-78"/>
              </a:rPr>
              <a:t>Literature survey</a:t>
            </a:r>
          </a:p>
          <a:p>
            <a:r>
              <a:rPr lang="en-US" sz="3000" dirty="0">
                <a:latin typeface="Dubai Medium" panose="020B0603030403030204" pitchFamily="34" charset="-78"/>
                <a:cs typeface="Dubai Medium" panose="020B0603030403030204" pitchFamily="34" charset="-78"/>
              </a:rPr>
              <a:t>Problem statement</a:t>
            </a:r>
          </a:p>
          <a:p>
            <a:r>
              <a:rPr lang="en-US" sz="3000" dirty="0">
                <a:latin typeface="Dubai Medium" panose="020B0603030403030204" pitchFamily="34" charset="-78"/>
                <a:cs typeface="Dubai Medium" panose="020B0603030403030204" pitchFamily="34" charset="-78"/>
              </a:rPr>
              <a:t>Proposed work</a:t>
            </a:r>
          </a:p>
          <a:p>
            <a:r>
              <a:rPr lang="en-US" sz="3000" dirty="0">
                <a:latin typeface="Dubai Medium" panose="020B0603030403030204" pitchFamily="34" charset="-78"/>
                <a:cs typeface="Dubai Medium" panose="020B0603030403030204" pitchFamily="34" charset="-78"/>
              </a:rPr>
              <a:t>Software requirements</a:t>
            </a:r>
          </a:p>
          <a:p>
            <a:r>
              <a:rPr lang="en-IN" sz="3000" dirty="0">
                <a:latin typeface="Dubai Medium" panose="020B0603030403030204" pitchFamily="34" charset="-78"/>
                <a:cs typeface="Dubai Medium" panose="020B0603030403030204" pitchFamily="34" charset="-78"/>
              </a:rPr>
              <a:t>Design and methodology </a:t>
            </a:r>
          </a:p>
          <a:p>
            <a:r>
              <a:rPr lang="en-IN" sz="3000" dirty="0">
                <a:latin typeface="Dubai Medium" panose="020B0603030403030204" pitchFamily="34" charset="-78"/>
                <a:cs typeface="Dubai Medium" panose="020B0603030403030204" pitchFamily="34" charset="-78"/>
              </a:rPr>
              <a:t>Conclusion</a:t>
            </a:r>
          </a:p>
          <a:p>
            <a:r>
              <a:rPr lang="en-IN" sz="3000" dirty="0">
                <a:latin typeface="Dubai Medium" panose="020B0603030403030204" pitchFamily="34" charset="-78"/>
                <a:cs typeface="Dubai Medium" panose="020B0603030403030204" pitchFamily="34" charset="-78"/>
              </a:rPr>
              <a:t>References</a:t>
            </a:r>
            <a:endParaRPr lang="en-IN" dirty="0">
              <a:latin typeface="Dubai Medium" panose="020B0603030403030204" pitchFamily="34" charset="-78"/>
              <a:cs typeface="Dubai Medium" panose="020B0603030403030204" pitchFamily="34" charset="-78"/>
            </a:endParaRPr>
          </a:p>
        </p:txBody>
      </p:sp>
      <p:pic>
        <p:nvPicPr>
          <p:cNvPr id="7170" name="Picture 2" descr="Infrastructure | Blood Bank | Dr. S. S. Tantia MCH &amp; RC ...">
            <a:extLst>
              <a:ext uri="{FF2B5EF4-FFF2-40B4-BE49-F238E27FC236}">
                <a16:creationId xmlns:a16="http://schemas.microsoft.com/office/drawing/2014/main" id="{AF2CE7E3-5D21-04BB-1326-1F784BB01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5608" y="0"/>
            <a:ext cx="657639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856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C7492-DD3C-B19C-0628-2896B9153DFF}"/>
              </a:ext>
            </a:extLst>
          </p:cNvPr>
          <p:cNvSpPr>
            <a:spLocks noGrp="1"/>
          </p:cNvSpPr>
          <p:nvPr>
            <p:ph type="title"/>
          </p:nvPr>
        </p:nvSpPr>
        <p:spPr>
          <a:xfrm>
            <a:off x="914399" y="914400"/>
            <a:ext cx="10038735" cy="914400"/>
          </a:xfrm>
        </p:spPr>
        <p:txBody>
          <a:bodyPr/>
          <a:lstStyle/>
          <a:p>
            <a:r>
              <a:rPr lang="en-US" sz="4400" dirty="0">
                <a:solidFill>
                  <a:srgbClr val="C00000"/>
                </a:solidFill>
                <a:latin typeface="Dubai Medium" panose="020B0603030403030204" pitchFamily="34" charset="-78"/>
                <a:cs typeface="Dubai Medium" panose="020B0603030403030204" pitchFamily="34" charset="-78"/>
              </a:rPr>
              <a:t>Abstract</a:t>
            </a:r>
            <a:endParaRPr lang="en-IN" sz="4400" dirty="0">
              <a:solidFill>
                <a:srgbClr val="C00000"/>
              </a:solidFill>
              <a:latin typeface="Dubai Medium" panose="020B0603030403030204" pitchFamily="34" charset="-78"/>
              <a:cs typeface="Dubai Medium" panose="020B0603030403030204" pitchFamily="34" charset="-78"/>
            </a:endParaRPr>
          </a:p>
        </p:txBody>
      </p:sp>
      <p:sp>
        <p:nvSpPr>
          <p:cNvPr id="3" name="Content Placeholder 2">
            <a:extLst>
              <a:ext uri="{FF2B5EF4-FFF2-40B4-BE49-F238E27FC236}">
                <a16:creationId xmlns:a16="http://schemas.microsoft.com/office/drawing/2014/main" id="{8690B577-6E9E-50E3-05D7-3113CA4115DD}"/>
              </a:ext>
            </a:extLst>
          </p:cNvPr>
          <p:cNvSpPr>
            <a:spLocks noGrp="1"/>
          </p:cNvSpPr>
          <p:nvPr>
            <p:ph sz="quarter" idx="10"/>
          </p:nvPr>
        </p:nvSpPr>
        <p:spPr>
          <a:xfrm>
            <a:off x="914400" y="1828800"/>
            <a:ext cx="9812594" cy="4780721"/>
          </a:xfrm>
        </p:spPr>
        <p:txBody>
          <a:bodyPr>
            <a:normAutofit/>
          </a:bodyPr>
          <a:lstStyle/>
          <a:p>
            <a:pPr marL="0" indent="0">
              <a:buNone/>
            </a:pPr>
            <a:r>
              <a:rPr lang="en-US" sz="2400" dirty="0">
                <a:latin typeface="Dubai Medium" panose="020B0603030403030204" pitchFamily="34" charset="-78"/>
                <a:cs typeface="Dubai Medium" panose="020B0603030403030204" pitchFamily="34" charset="-78"/>
              </a:rPr>
              <a:t>The </a:t>
            </a:r>
            <a:r>
              <a:rPr lang="en-US" sz="2400" b="1" dirty="0">
                <a:solidFill>
                  <a:srgbClr val="C00000"/>
                </a:solidFill>
                <a:latin typeface="Arial Rounded MT Bold" panose="020F0704030504030204" pitchFamily="34" charset="0"/>
              </a:rPr>
              <a:t>Blood Bank and Organ Donation Management System</a:t>
            </a:r>
            <a:r>
              <a:rPr lang="en-US" sz="2400" dirty="0">
                <a:latin typeface="Dubai Medium" panose="020B0603030403030204" pitchFamily="34" charset="-78"/>
                <a:cs typeface="Dubai Medium" panose="020B0603030403030204" pitchFamily="34" charset="-78"/>
              </a:rPr>
              <a:t> is an innovative solution designed to address the growing demand for organ donations and streamline the process of organ matching between donors and recipients. This web-based platform allows individuals to register as organ donors, request organs, and maintain real-time updates on organ availability across various hospitals. Using a secure database and cloud technologies, the system ensures that critical information is easily accessible to both recipients and healthcare professionals. The system utilizes </a:t>
            </a:r>
            <a:r>
              <a:rPr lang="en-US" sz="2400" dirty="0">
                <a:solidFill>
                  <a:srgbClr val="00B050"/>
                </a:solidFill>
                <a:latin typeface="Dubai Medium" panose="020B0603030403030204" pitchFamily="34" charset="-78"/>
                <a:cs typeface="Dubai Medium" panose="020B0603030403030204" pitchFamily="34" charset="-78"/>
              </a:rPr>
              <a:t>HTML, CSS, and JavaScript </a:t>
            </a:r>
            <a:r>
              <a:rPr lang="en-US" sz="2400" dirty="0">
                <a:latin typeface="Dubai Medium" panose="020B0603030403030204" pitchFamily="34" charset="-78"/>
                <a:cs typeface="Dubai Medium" panose="020B0603030403030204" pitchFamily="34" charset="-78"/>
              </a:rPr>
              <a:t>for the front-end design, providing a user-friendly interface, while </a:t>
            </a:r>
            <a:r>
              <a:rPr lang="en-US" sz="2400" dirty="0">
                <a:solidFill>
                  <a:srgbClr val="00B050"/>
                </a:solidFill>
                <a:latin typeface="Dubai Medium" panose="020B0603030403030204" pitchFamily="34" charset="-78"/>
                <a:cs typeface="Dubai Medium" panose="020B0603030403030204" pitchFamily="34" charset="-78"/>
              </a:rPr>
              <a:t>Python-Django</a:t>
            </a:r>
            <a:r>
              <a:rPr lang="en-US" sz="2400" dirty="0">
                <a:latin typeface="Dubai Medium" panose="020B0603030403030204" pitchFamily="34" charset="-78"/>
                <a:cs typeface="Dubai Medium" panose="020B0603030403030204" pitchFamily="34" charset="-78"/>
              </a:rPr>
              <a:t> serves as the backend framework for robust data processing and functionality. </a:t>
            </a:r>
            <a:r>
              <a:rPr lang="en-US" sz="2400" dirty="0">
                <a:solidFill>
                  <a:srgbClr val="00B050"/>
                </a:solidFill>
                <a:latin typeface="Dubai Medium" panose="020B0603030403030204" pitchFamily="34" charset="-78"/>
                <a:cs typeface="Dubai Medium" panose="020B0603030403030204" pitchFamily="34" charset="-78"/>
              </a:rPr>
              <a:t>MySQL</a:t>
            </a:r>
            <a:r>
              <a:rPr lang="en-US" sz="2400" dirty="0">
                <a:latin typeface="Dubai Medium" panose="020B0603030403030204" pitchFamily="34" charset="-78"/>
                <a:cs typeface="Dubai Medium" panose="020B0603030403030204" pitchFamily="34" charset="-78"/>
              </a:rPr>
              <a:t>/Firebase is used for database management, ensuring secure and scalable storage of user and hospital data. The system also incorporates cloud technology for real-time updates on organ availability and matching</a:t>
            </a:r>
            <a:endParaRPr lang="en-IN" sz="2400" dirty="0">
              <a:latin typeface="Dubai Medium" panose="020B0603030403030204" pitchFamily="34" charset="-78"/>
              <a:cs typeface="Dubai Medium" panose="020B0603030403030204" pitchFamily="34" charset="-78"/>
            </a:endParaRPr>
          </a:p>
        </p:txBody>
      </p:sp>
      <p:sp>
        <p:nvSpPr>
          <p:cNvPr id="4" name="Slide Number Placeholder 3">
            <a:extLst>
              <a:ext uri="{FF2B5EF4-FFF2-40B4-BE49-F238E27FC236}">
                <a16:creationId xmlns:a16="http://schemas.microsoft.com/office/drawing/2014/main" id="{4623A544-EA60-80C5-C06B-70CF5721B576}"/>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11838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F5553-BB56-6700-FF62-E7594A06FBC4}"/>
              </a:ext>
            </a:extLst>
          </p:cNvPr>
          <p:cNvSpPr>
            <a:spLocks noGrp="1"/>
          </p:cNvSpPr>
          <p:nvPr>
            <p:ph type="title"/>
          </p:nvPr>
        </p:nvSpPr>
        <p:spPr>
          <a:xfrm>
            <a:off x="406400" y="914400"/>
            <a:ext cx="8042656" cy="914400"/>
          </a:xfrm>
        </p:spPr>
        <p:txBody>
          <a:bodyPr/>
          <a:lstStyle/>
          <a:p>
            <a:r>
              <a:rPr lang="en-US" dirty="0"/>
              <a:t> </a:t>
            </a:r>
            <a:r>
              <a:rPr lang="en-US" sz="4000" dirty="0">
                <a:solidFill>
                  <a:srgbClr val="C00000"/>
                </a:solidFill>
              </a:rPr>
              <a:t>Introduction </a:t>
            </a:r>
            <a:endParaRPr lang="en-IN" dirty="0">
              <a:solidFill>
                <a:srgbClr val="C00000"/>
              </a:solidFill>
            </a:endParaRPr>
          </a:p>
        </p:txBody>
      </p:sp>
      <p:sp>
        <p:nvSpPr>
          <p:cNvPr id="3" name="Content Placeholder 2">
            <a:extLst>
              <a:ext uri="{FF2B5EF4-FFF2-40B4-BE49-F238E27FC236}">
                <a16:creationId xmlns:a16="http://schemas.microsoft.com/office/drawing/2014/main" id="{0F8F3465-2C8C-A37B-7C1F-43F859071526}"/>
              </a:ext>
            </a:extLst>
          </p:cNvPr>
          <p:cNvSpPr>
            <a:spLocks noGrp="1"/>
          </p:cNvSpPr>
          <p:nvPr>
            <p:ph sz="quarter" idx="10"/>
          </p:nvPr>
        </p:nvSpPr>
        <p:spPr>
          <a:xfrm>
            <a:off x="406399" y="2113280"/>
            <a:ext cx="6153947" cy="3942080"/>
          </a:xfrm>
        </p:spPr>
        <p:txBody>
          <a:bodyPr>
            <a:normAutofit lnSpcReduction="10000"/>
          </a:bodyPr>
          <a:lstStyle/>
          <a:p>
            <a:pPr marL="0" indent="0">
              <a:buNone/>
            </a:pPr>
            <a:r>
              <a:rPr lang="en-US" sz="2400" b="1" dirty="0">
                <a:solidFill>
                  <a:srgbClr val="C00000"/>
                </a:solidFill>
                <a:latin typeface="Arial Rounded MT Bold" panose="020F0704030504030204" pitchFamily="34" charset="0"/>
              </a:rPr>
              <a:t>Blood Bank and Organ Donation Management System</a:t>
            </a:r>
            <a:r>
              <a:rPr lang="en-US" sz="2400" dirty="0">
                <a:latin typeface="Dubai Medium" panose="020B0603030403030204" pitchFamily="34" charset="-78"/>
                <a:cs typeface="Dubai Medium" panose="020B0603030403030204" pitchFamily="34" charset="-78"/>
              </a:rPr>
              <a:t> is a life-saving practice that involves the donation of organs or tissues from one individual to another in need. The Organ Donation Management System aims to streamline the process of organ donation by creating a structured platform for donors, recipients, and healthcare organizations. It provides functionalities for donor registration, maintaining a real-time database of available organs, and ensuring ethical and legal compliance. </a:t>
            </a:r>
            <a:endParaRPr lang="en-IN" dirty="0">
              <a:latin typeface="Dubai Medium" panose="020B0603030403030204" pitchFamily="34" charset="-78"/>
              <a:cs typeface="Dubai Medium" panose="020B0603030403030204" pitchFamily="34" charset="-78"/>
            </a:endParaRPr>
          </a:p>
        </p:txBody>
      </p:sp>
      <p:sp>
        <p:nvSpPr>
          <p:cNvPr id="4" name="Slide Number Placeholder 3">
            <a:extLst>
              <a:ext uri="{FF2B5EF4-FFF2-40B4-BE49-F238E27FC236}">
                <a16:creationId xmlns:a16="http://schemas.microsoft.com/office/drawing/2014/main" id="{A719F136-CDA7-4B8A-3863-36523E3D740B}"/>
              </a:ext>
            </a:extLst>
          </p:cNvPr>
          <p:cNvSpPr>
            <a:spLocks noGrp="1"/>
          </p:cNvSpPr>
          <p:nvPr>
            <p:ph type="sldNum" sz="quarter" idx="4"/>
          </p:nvPr>
        </p:nvSpPr>
        <p:spPr/>
        <p:txBody>
          <a:bodyPr/>
          <a:lstStyle/>
          <a:p>
            <a:fld id="{58FB4751-880F-D840-AAA9-3A15815CC996}" type="slidenum">
              <a:rPr lang="en-US" smtClean="0"/>
              <a:pPr/>
              <a:t>5</a:t>
            </a:fld>
            <a:endParaRPr lang="en-US" dirty="0"/>
          </a:p>
        </p:txBody>
      </p:sp>
      <p:pic>
        <p:nvPicPr>
          <p:cNvPr id="2052" name="Picture 4" descr="Blood Bank - Vadamalayan Hospitals">
            <a:extLst>
              <a:ext uri="{FF2B5EF4-FFF2-40B4-BE49-F238E27FC236}">
                <a16:creationId xmlns:a16="http://schemas.microsoft.com/office/drawing/2014/main" id="{9933FA60-FA78-47D3-FEE3-AF0EB9FBC9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0253" y="0"/>
            <a:ext cx="570174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354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A78A6-E6F0-874D-2DB8-B4D1B32FFD0F}"/>
              </a:ext>
            </a:extLst>
          </p:cNvPr>
          <p:cNvSpPr>
            <a:spLocks noGrp="1"/>
          </p:cNvSpPr>
          <p:nvPr>
            <p:ph type="title"/>
          </p:nvPr>
        </p:nvSpPr>
        <p:spPr/>
        <p:txBody>
          <a:bodyPr/>
          <a:lstStyle/>
          <a:p>
            <a:r>
              <a:rPr lang="en-US" sz="4400" dirty="0">
                <a:solidFill>
                  <a:srgbClr val="C00000"/>
                </a:solidFill>
                <a:latin typeface="Dubai Medium" panose="020B0603030403030204" pitchFamily="34" charset="-78"/>
                <a:cs typeface="Dubai Medium" panose="020B0603030403030204" pitchFamily="34" charset="-78"/>
              </a:rPr>
              <a:t>Problem statement</a:t>
            </a:r>
            <a:endParaRPr lang="en-IN" sz="4400" dirty="0">
              <a:solidFill>
                <a:srgbClr val="C00000"/>
              </a:solidFill>
              <a:latin typeface="Dubai Medium" panose="020B0603030403030204" pitchFamily="34" charset="-78"/>
              <a:cs typeface="Dubai Medium" panose="020B0603030403030204" pitchFamily="34" charset="-78"/>
            </a:endParaRPr>
          </a:p>
        </p:txBody>
      </p:sp>
      <p:sp>
        <p:nvSpPr>
          <p:cNvPr id="3" name="Content Placeholder 2">
            <a:extLst>
              <a:ext uri="{FF2B5EF4-FFF2-40B4-BE49-F238E27FC236}">
                <a16:creationId xmlns:a16="http://schemas.microsoft.com/office/drawing/2014/main" id="{79C49626-85E6-270A-D50D-42D3F8558510}"/>
              </a:ext>
            </a:extLst>
          </p:cNvPr>
          <p:cNvSpPr>
            <a:spLocks noGrp="1"/>
          </p:cNvSpPr>
          <p:nvPr>
            <p:ph sz="quarter" idx="10"/>
          </p:nvPr>
        </p:nvSpPr>
        <p:spPr>
          <a:xfrm>
            <a:off x="914400" y="2059432"/>
            <a:ext cx="10439400" cy="4178808"/>
          </a:xfrm>
        </p:spPr>
        <p:txBody>
          <a:bodyPr>
            <a:normAutofit/>
          </a:bodyPr>
          <a:lstStyle/>
          <a:p>
            <a:pPr marL="0" indent="0">
              <a:buNone/>
            </a:pPr>
            <a:r>
              <a:rPr lang="en-US" sz="2800" dirty="0">
                <a:latin typeface="Dubai Medium" panose="020B0603030403030204" pitchFamily="34" charset="-78"/>
                <a:cs typeface="Dubai Medium" panose="020B0603030403030204" pitchFamily="34" charset="-78"/>
              </a:rPr>
              <a:t>There are less websites in the market related to these . So many people are dying due to </a:t>
            </a:r>
            <a:r>
              <a:rPr lang="en-IN" sz="2400" b="0" i="0" u="sng" dirty="0">
                <a:effectLst/>
                <a:latin typeface="Arial" panose="020B0604020202020204" pitchFamily="34" charset="0"/>
                <a:hlinkClick r:id="rId2"/>
              </a:rPr>
              <a:t>Blood Bank &amp; Donor Management </a:t>
            </a:r>
          </a:p>
          <a:p>
            <a:pPr marL="0" indent="0">
              <a:buNone/>
            </a:pPr>
            <a:r>
              <a:rPr lang="en-US" sz="2800" dirty="0">
                <a:latin typeface="Dubai Medium" panose="020B0603030403030204" pitchFamily="34" charset="-78"/>
                <a:cs typeface="Dubai Medium" panose="020B0603030403030204" pitchFamily="34" charset="-78"/>
              </a:rPr>
              <a:t> organ insufficiency, and they can’t run to hospitals in a critical time. There is no guarantee that a specific organ is present at that time at a region/state. By overcoming all those things, we created this website, , where users can easily register themselves for donation, and they can easily request an organ. we  will collect data from various  hospitals and various states and update data using Python APIs. </a:t>
            </a:r>
            <a:endParaRPr lang="en-IN" sz="2800" dirty="0">
              <a:latin typeface="Dubai Medium" panose="020B0603030403030204" pitchFamily="34" charset="-78"/>
              <a:cs typeface="Dubai Medium" panose="020B0603030403030204" pitchFamily="34" charset="-78"/>
            </a:endParaRPr>
          </a:p>
        </p:txBody>
      </p:sp>
      <p:sp>
        <p:nvSpPr>
          <p:cNvPr id="4" name="Slide Number Placeholder 3">
            <a:extLst>
              <a:ext uri="{FF2B5EF4-FFF2-40B4-BE49-F238E27FC236}">
                <a16:creationId xmlns:a16="http://schemas.microsoft.com/office/drawing/2014/main" id="{46764548-8539-1FCF-F908-6948A0C1419E}"/>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3842513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7922B-0D7F-3D1C-3A2D-5749AEA7B085}"/>
              </a:ext>
            </a:extLst>
          </p:cNvPr>
          <p:cNvSpPr>
            <a:spLocks noGrp="1"/>
          </p:cNvSpPr>
          <p:nvPr>
            <p:ph type="title"/>
          </p:nvPr>
        </p:nvSpPr>
        <p:spPr>
          <a:xfrm>
            <a:off x="894522" y="914400"/>
            <a:ext cx="5306581" cy="914400"/>
          </a:xfrm>
        </p:spPr>
        <p:txBody>
          <a:bodyPr/>
          <a:lstStyle/>
          <a:p>
            <a:r>
              <a:rPr lang="en-US" sz="4400" dirty="0">
                <a:solidFill>
                  <a:srgbClr val="C00000"/>
                </a:solidFill>
                <a:latin typeface="Dubai Medium" panose="020B0603030403030204" pitchFamily="34" charset="-78"/>
                <a:cs typeface="Dubai Medium" panose="020B0603030403030204" pitchFamily="34" charset="-78"/>
              </a:rPr>
              <a:t>Proposed solution </a:t>
            </a:r>
            <a:endParaRPr lang="en-IN" sz="4400" dirty="0">
              <a:solidFill>
                <a:srgbClr val="C00000"/>
              </a:solidFill>
              <a:latin typeface="Dubai Medium" panose="020B0603030403030204" pitchFamily="34" charset="-78"/>
              <a:cs typeface="Dubai Medium" panose="020B0603030403030204" pitchFamily="34" charset="-78"/>
            </a:endParaRPr>
          </a:p>
        </p:txBody>
      </p:sp>
      <p:sp>
        <p:nvSpPr>
          <p:cNvPr id="3" name="Content Placeholder 2">
            <a:extLst>
              <a:ext uri="{FF2B5EF4-FFF2-40B4-BE49-F238E27FC236}">
                <a16:creationId xmlns:a16="http://schemas.microsoft.com/office/drawing/2014/main" id="{2ED6D6B8-A67A-2590-8582-E83B585D3B66}"/>
              </a:ext>
            </a:extLst>
          </p:cNvPr>
          <p:cNvSpPr>
            <a:spLocks noGrp="1"/>
          </p:cNvSpPr>
          <p:nvPr>
            <p:ph sz="quarter" idx="10"/>
          </p:nvPr>
        </p:nvSpPr>
        <p:spPr>
          <a:xfrm>
            <a:off x="785190" y="2039111"/>
            <a:ext cx="9780105" cy="4256585"/>
          </a:xfrm>
        </p:spPr>
        <p:txBody>
          <a:bodyPr>
            <a:normAutofit fontScale="92500" lnSpcReduction="10000"/>
          </a:bodyPr>
          <a:lstStyle/>
          <a:p>
            <a:pPr marL="0" indent="0">
              <a:buNone/>
            </a:pPr>
            <a:r>
              <a:rPr lang="en-US" sz="2600" dirty="0">
                <a:latin typeface="Dubai Medium" panose="020B0603030403030204" pitchFamily="34" charset="-78"/>
                <a:cs typeface="Dubai Medium" panose="020B0603030403030204" pitchFamily="34" charset="-78"/>
              </a:rPr>
              <a:t>The proposed work for the </a:t>
            </a:r>
            <a:r>
              <a:rPr lang="en-US" sz="2800" b="1" dirty="0">
                <a:solidFill>
                  <a:srgbClr val="C00000"/>
                </a:solidFill>
                <a:latin typeface="Arial Rounded MT Bold" panose="020F0704030504030204" pitchFamily="34" charset="0"/>
              </a:rPr>
              <a:t>Blood Bank and Organ Donation Management System</a:t>
            </a:r>
            <a:r>
              <a:rPr lang="en-US" sz="2600" dirty="0">
                <a:latin typeface="Dubai Medium" panose="020B0603030403030204" pitchFamily="34" charset="-78"/>
                <a:cs typeface="Dubai Medium" panose="020B0603030403030204" pitchFamily="34" charset="-78"/>
              </a:rPr>
              <a:t> involves creating a comprehensive platform to connect organ donors and recipients efficiently. User data, organ availability, and hospital information will be securely stored and managed in Google Cloud, enabling real-time updates and seamless coordination</a:t>
            </a:r>
            <a:r>
              <a:rPr lang="en-US" sz="3000" dirty="0">
                <a:latin typeface="Dubai Medium" panose="020B0603030403030204" pitchFamily="34" charset="-78"/>
                <a:cs typeface="Dubai Medium" panose="020B0603030403030204" pitchFamily="34" charset="-78"/>
              </a:rPr>
              <a:t>. </a:t>
            </a:r>
            <a:r>
              <a:rPr lang="en-US" sz="2800" dirty="0">
                <a:latin typeface="Dubai Medium" panose="020B0603030403030204" pitchFamily="34" charset="-78"/>
                <a:cs typeface="Dubai Medium" panose="020B0603030403030204" pitchFamily="34" charset="-78"/>
              </a:rPr>
              <a:t>The system utilizes HTML, CSS, and JavaScript for the front-end design, providing a user-friendly interface, while Python-Django serves as the backend framework for robust data processing and functionality. MySQL/Firebase is used for database management, ensuring secure and scalable storage of user and hospital data. The system also incorporates cloud technology for real-time updates on organ availability and matching</a:t>
            </a:r>
            <a:endParaRPr lang="en-IN" sz="2800" dirty="0">
              <a:latin typeface="Dubai Medium" panose="020B0603030403030204" pitchFamily="34" charset="-78"/>
              <a:cs typeface="Dubai Medium" panose="020B0603030403030204" pitchFamily="34" charset="-78"/>
            </a:endParaRPr>
          </a:p>
        </p:txBody>
      </p:sp>
      <p:sp>
        <p:nvSpPr>
          <p:cNvPr id="4" name="Slide Number Placeholder 3">
            <a:extLst>
              <a:ext uri="{FF2B5EF4-FFF2-40B4-BE49-F238E27FC236}">
                <a16:creationId xmlns:a16="http://schemas.microsoft.com/office/drawing/2014/main" id="{F0D16A32-645F-91BE-1A08-EE348E1EAC84}"/>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2826659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C566-9720-32EC-5D83-EE4B8CC12AF2}"/>
              </a:ext>
            </a:extLst>
          </p:cNvPr>
          <p:cNvSpPr>
            <a:spLocks noGrp="1"/>
          </p:cNvSpPr>
          <p:nvPr>
            <p:ph type="title"/>
          </p:nvPr>
        </p:nvSpPr>
        <p:spPr>
          <a:xfrm>
            <a:off x="176784" y="162560"/>
            <a:ext cx="11177016" cy="762000"/>
          </a:xfrm>
        </p:spPr>
        <p:txBody>
          <a:bodyPr/>
          <a:lstStyle/>
          <a:p>
            <a:r>
              <a:rPr lang="en-US" sz="4000" dirty="0">
                <a:solidFill>
                  <a:srgbClr val="C00000"/>
                </a:solidFill>
                <a:latin typeface="Dubai Medium" panose="020B0603030403030204" pitchFamily="34" charset="-78"/>
                <a:cs typeface="Dubai Medium" panose="020B0603030403030204" pitchFamily="34" charset="-78"/>
              </a:rPr>
              <a:t>Literature survey</a:t>
            </a:r>
            <a:endParaRPr lang="en-IN" sz="4000" dirty="0">
              <a:solidFill>
                <a:srgbClr val="C00000"/>
              </a:solidFill>
              <a:latin typeface="Dubai Medium" panose="020B0603030403030204" pitchFamily="34" charset="-78"/>
              <a:cs typeface="Dubai Medium" panose="020B0603030403030204" pitchFamily="34" charset="-78"/>
            </a:endParaRPr>
          </a:p>
        </p:txBody>
      </p:sp>
      <p:graphicFrame>
        <p:nvGraphicFramePr>
          <p:cNvPr id="5" name="Content Placeholder 4">
            <a:extLst>
              <a:ext uri="{FF2B5EF4-FFF2-40B4-BE49-F238E27FC236}">
                <a16:creationId xmlns:a16="http://schemas.microsoft.com/office/drawing/2014/main" id="{D1628805-4048-184E-65D5-AADA8D3FEB1F}"/>
              </a:ext>
            </a:extLst>
          </p:cNvPr>
          <p:cNvGraphicFramePr>
            <a:graphicFrameLocks noGrp="1"/>
          </p:cNvGraphicFramePr>
          <p:nvPr>
            <p:ph sz="quarter" idx="10"/>
            <p:extLst>
              <p:ext uri="{D42A27DB-BD31-4B8C-83A1-F6EECF244321}">
                <p14:modId xmlns:p14="http://schemas.microsoft.com/office/powerpoint/2010/main" val="3420242621"/>
              </p:ext>
            </p:extLst>
          </p:nvPr>
        </p:nvGraphicFramePr>
        <p:xfrm>
          <a:off x="176784" y="1166473"/>
          <a:ext cx="11719294" cy="5161280"/>
        </p:xfrm>
        <a:graphic>
          <a:graphicData uri="http://schemas.openxmlformats.org/drawingml/2006/table">
            <a:tbl>
              <a:tblPr firstRow="1" bandRow="1">
                <a:tableStyleId>{2D5ABB26-0587-4C30-8999-92F81FD0307C}</a:tableStyleId>
              </a:tblPr>
              <a:tblGrid>
                <a:gridCol w="2601478">
                  <a:extLst>
                    <a:ext uri="{9D8B030D-6E8A-4147-A177-3AD203B41FA5}">
                      <a16:colId xmlns:a16="http://schemas.microsoft.com/office/drawing/2014/main" val="905735013"/>
                    </a:ext>
                  </a:extLst>
                </a:gridCol>
                <a:gridCol w="5299745">
                  <a:extLst>
                    <a:ext uri="{9D8B030D-6E8A-4147-A177-3AD203B41FA5}">
                      <a16:colId xmlns:a16="http://schemas.microsoft.com/office/drawing/2014/main" val="3663939947"/>
                    </a:ext>
                  </a:extLst>
                </a:gridCol>
                <a:gridCol w="3818071">
                  <a:extLst>
                    <a:ext uri="{9D8B030D-6E8A-4147-A177-3AD203B41FA5}">
                      <a16:colId xmlns:a16="http://schemas.microsoft.com/office/drawing/2014/main" val="2231001682"/>
                    </a:ext>
                  </a:extLst>
                </a:gridCol>
              </a:tblGrid>
              <a:tr h="577873">
                <a:tc>
                  <a:txBody>
                    <a:bodyPr/>
                    <a:lstStyle/>
                    <a:p>
                      <a:r>
                        <a:rPr lang="en-US" sz="2800" dirty="0">
                          <a:solidFill>
                            <a:srgbClr val="002060"/>
                          </a:solidFill>
                          <a:latin typeface="Dubai Medium" panose="020B0603030403030204" pitchFamily="34" charset="-78"/>
                          <a:cs typeface="Dubai Medium" panose="020B0603030403030204" pitchFamily="34" charset="-78"/>
                        </a:rPr>
                        <a:t>Author</a:t>
                      </a:r>
                      <a:endParaRPr lang="en-IN" sz="2800" dirty="0">
                        <a:solidFill>
                          <a:srgbClr val="002060"/>
                        </a:solidFill>
                        <a:latin typeface="Dubai Medium" panose="020B0603030403030204" pitchFamily="34" charset="-78"/>
                        <a:cs typeface="Dubai Medium" panose="020B0603030403030204" pitchFamily="34"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2800" dirty="0">
                          <a:solidFill>
                            <a:srgbClr val="002060"/>
                          </a:solidFill>
                          <a:latin typeface="Dubai Medium" panose="020B0603030403030204" pitchFamily="34" charset="-78"/>
                          <a:cs typeface="Dubai Medium" panose="020B0603030403030204" pitchFamily="34" charset="-78"/>
                        </a:rPr>
                        <a:t>Description and techniques used </a:t>
                      </a:r>
                      <a:endParaRPr lang="en-IN" sz="2800" dirty="0">
                        <a:solidFill>
                          <a:srgbClr val="002060"/>
                        </a:solidFill>
                        <a:latin typeface="Dubai Medium" panose="020B0603030403030204" pitchFamily="34" charset="-78"/>
                        <a:cs typeface="Dubai Medium" panose="020B0603030403030204" pitchFamily="34"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2800" dirty="0">
                          <a:solidFill>
                            <a:srgbClr val="002060"/>
                          </a:solidFill>
                          <a:latin typeface="Dubai Medium" panose="020B0603030403030204" pitchFamily="34" charset="-78"/>
                          <a:cs typeface="Dubai Medium" panose="020B0603030403030204" pitchFamily="34" charset="-78"/>
                        </a:rPr>
                        <a:t>Result and analysis</a:t>
                      </a:r>
                      <a:endParaRPr lang="en-IN" sz="2800" dirty="0">
                        <a:solidFill>
                          <a:srgbClr val="002060"/>
                        </a:solidFill>
                        <a:latin typeface="Dubai Medium" panose="020B0603030403030204" pitchFamily="34" charset="-78"/>
                        <a:cs typeface="Dubai Medium" panose="020B0603030403030204" pitchFamily="34"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154886367"/>
                  </a:ext>
                </a:extLst>
              </a:tr>
              <a:tr h="1567383">
                <a:tc>
                  <a:txBody>
                    <a:bodyPr/>
                    <a:lstStyle/>
                    <a:p>
                      <a:r>
                        <a:rPr lang="nb-NO" sz="1600" dirty="0">
                          <a:solidFill>
                            <a:srgbClr val="C00000"/>
                          </a:solidFill>
                          <a:latin typeface="Aptos" panose="020B0004020202020204" pitchFamily="34" charset="0"/>
                          <a:cs typeface="Dubai Medium" panose="020B0603030403030204" pitchFamily="34" charset="-78"/>
                        </a:rPr>
                        <a:t>Abhay Yadav et al. (2023) </a:t>
                      </a:r>
                      <a:endParaRPr lang="en-IN" sz="1600" dirty="0">
                        <a:solidFill>
                          <a:srgbClr val="C00000"/>
                        </a:solidFill>
                        <a:latin typeface="Aptos" panose="020B0004020202020204" pitchFamily="34" charset="0"/>
                        <a:cs typeface="Dubai Medium" panose="020B0603030403030204" pitchFamily="34"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cs typeface="Dubai Medium" panose="020B0603030403030204" pitchFamily="34" charset="-78"/>
                        </a:rPr>
                        <a:t>Developed a mobile and web-based platform to streamline the organ donation process by simplifying donor-recipient registration and matching. encryption, and a user-friendly interface were key design elements.</a:t>
                      </a:r>
                      <a:endParaRPr lang="en-IN" sz="1200" dirty="0">
                        <a:latin typeface="Aptos" panose="020B0004020202020204" pitchFamily="34" charset="0"/>
                        <a:cs typeface="Dubai Medium" panose="020B0603030403030204" pitchFamily="34"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rPr>
                        <a:t>His platform successfully improved donor-recipient matching, reducing waiting times and increasing donor registration. Awareness campaigns integrated within the platform dispelled myths and encouraged more people to become donors.</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025627794"/>
                  </a:ext>
                </a:extLst>
              </a:tr>
              <a:tr h="1567383">
                <a:tc>
                  <a:txBody>
                    <a:bodyPr/>
                    <a:lstStyle/>
                    <a:p>
                      <a:r>
                        <a:rPr lang="en-IN" sz="1600" dirty="0">
                          <a:solidFill>
                            <a:srgbClr val="C00000"/>
                          </a:solidFill>
                          <a:latin typeface="Aptos" panose="020B0004020202020204" pitchFamily="34" charset="0"/>
                        </a:rPr>
                        <a:t>Chester County Hospital (2021)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400" dirty="0"/>
                        <a:t> </a:t>
                      </a:r>
                      <a:r>
                        <a:rPr lang="en-US" sz="1200" dirty="0">
                          <a:latin typeface="Aptos" panose="020B0004020202020204" pitchFamily="34" charset="0"/>
                        </a:rPr>
                        <a:t>Introduced digital registries for organ donation, allowing individuals to sign up as donors through mobile apps and websites. The initiative aimed to simplify the registration process and increase accessibility for potential donor</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rPr>
                        <a:t>The digital registry successfully reduced administrative barriers, leading to an increase in donor registrations. The convenience of online registration encouraged more people to register as donors, significantly improving participation rates.</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879088570"/>
                  </a:ext>
                </a:extLst>
              </a:tr>
              <a:tr h="1448641">
                <a:tc>
                  <a:txBody>
                    <a:bodyPr/>
                    <a:lstStyle/>
                    <a:p>
                      <a:r>
                        <a:rPr lang="en-IN" sz="1600" dirty="0">
                          <a:solidFill>
                            <a:srgbClr val="C00000"/>
                          </a:solidFill>
                          <a:latin typeface="Aptos" panose="020B0004020202020204" pitchFamily="34" charset="0"/>
                        </a:rPr>
                        <a:t>V. B. </a:t>
                      </a:r>
                      <a:r>
                        <a:rPr lang="en-IN" sz="1600" dirty="0" err="1">
                          <a:solidFill>
                            <a:srgbClr val="C00000"/>
                          </a:solidFill>
                          <a:latin typeface="Aptos" panose="020B0004020202020204" pitchFamily="34" charset="0"/>
                        </a:rPr>
                        <a:t>Kute</a:t>
                      </a:r>
                      <a:r>
                        <a:rPr lang="en-IN" sz="1600" dirty="0">
                          <a:solidFill>
                            <a:srgbClr val="C00000"/>
                          </a:solidFill>
                          <a:latin typeface="Aptos" panose="020B0004020202020204" pitchFamily="34" charset="0"/>
                        </a:rPr>
                        <a:t>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rPr>
                        <a:t>Analyzed renal transplant outcomes and proposed strategies to improve success rates. The study focused on the use of digital platforms to track organ availability and improve logistical processes for organ transplants</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100" dirty="0">
                          <a:latin typeface="Aptos" panose="020B0004020202020204" pitchFamily="34" charset="0"/>
                        </a:rPr>
                        <a:t>The implementation of digital tracking systems was shown to improve the efficiency of organ allocation and reduce waiting times for transplant recipients. The study highlighted that real-time monitoring enhanced organ preservation and transplant success rates. </a:t>
                      </a:r>
                      <a:endParaRPr lang="en-IN" sz="11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017649362"/>
                  </a:ext>
                </a:extLst>
              </a:tr>
            </a:tbl>
          </a:graphicData>
        </a:graphic>
      </p:graphicFrame>
      <p:sp>
        <p:nvSpPr>
          <p:cNvPr id="4" name="Slide Number Placeholder 3">
            <a:extLst>
              <a:ext uri="{FF2B5EF4-FFF2-40B4-BE49-F238E27FC236}">
                <a16:creationId xmlns:a16="http://schemas.microsoft.com/office/drawing/2014/main" id="{14ECD20B-49F7-9EE1-27FA-23419823C946}"/>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3761886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95953B0-A35A-A87B-C0EE-5C6D6B663E93}"/>
              </a:ext>
            </a:extLst>
          </p:cNvPr>
          <p:cNvGraphicFramePr>
            <a:graphicFrameLocks noGrp="1"/>
          </p:cNvGraphicFramePr>
          <p:nvPr>
            <p:ph sz="quarter" idx="10"/>
            <p:extLst>
              <p:ext uri="{D42A27DB-BD31-4B8C-83A1-F6EECF244321}">
                <p14:modId xmlns:p14="http://schemas.microsoft.com/office/powerpoint/2010/main" val="4273319846"/>
              </p:ext>
            </p:extLst>
          </p:nvPr>
        </p:nvGraphicFramePr>
        <p:xfrm>
          <a:off x="388884" y="966952"/>
          <a:ext cx="11435253" cy="4929351"/>
        </p:xfrm>
        <a:graphic>
          <a:graphicData uri="http://schemas.openxmlformats.org/drawingml/2006/table">
            <a:tbl>
              <a:tblPr firstRow="1" bandRow="1">
                <a:tableStyleId>{2D5ABB26-0587-4C30-8999-92F81FD0307C}</a:tableStyleId>
              </a:tblPr>
              <a:tblGrid>
                <a:gridCol w="3811751">
                  <a:extLst>
                    <a:ext uri="{9D8B030D-6E8A-4147-A177-3AD203B41FA5}">
                      <a16:colId xmlns:a16="http://schemas.microsoft.com/office/drawing/2014/main" val="1546900040"/>
                    </a:ext>
                  </a:extLst>
                </a:gridCol>
                <a:gridCol w="3811751">
                  <a:extLst>
                    <a:ext uri="{9D8B030D-6E8A-4147-A177-3AD203B41FA5}">
                      <a16:colId xmlns:a16="http://schemas.microsoft.com/office/drawing/2014/main" val="889610610"/>
                    </a:ext>
                  </a:extLst>
                </a:gridCol>
                <a:gridCol w="3811751">
                  <a:extLst>
                    <a:ext uri="{9D8B030D-6E8A-4147-A177-3AD203B41FA5}">
                      <a16:colId xmlns:a16="http://schemas.microsoft.com/office/drawing/2014/main" val="3083539710"/>
                    </a:ext>
                  </a:extLst>
                </a:gridCol>
              </a:tblGrid>
              <a:tr h="916716">
                <a:tc>
                  <a:txBody>
                    <a:bodyPr/>
                    <a:lstStyle/>
                    <a:p>
                      <a:r>
                        <a:rPr lang="en-US" sz="2000" dirty="0">
                          <a:solidFill>
                            <a:schemeClr val="accent2">
                              <a:lumMod val="50000"/>
                            </a:schemeClr>
                          </a:solidFill>
                          <a:latin typeface="Dubai Medium" panose="020B0603030403030204" pitchFamily="34" charset="-78"/>
                          <a:cs typeface="Dubai Medium" panose="020B0603030403030204" pitchFamily="34" charset="-78"/>
                        </a:rPr>
                        <a:t>Author</a:t>
                      </a:r>
                      <a:endParaRPr lang="en-IN" sz="2000" dirty="0">
                        <a:solidFill>
                          <a:schemeClr val="accent2">
                            <a:lumMod val="50000"/>
                          </a:schemeClr>
                        </a:solidFill>
                        <a:latin typeface="Dubai Medium" panose="020B0603030403030204" pitchFamily="34" charset="-78"/>
                        <a:cs typeface="Dubai Medium" panose="020B0603030403030204" pitchFamily="34"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IN" sz="2000" dirty="0">
                          <a:solidFill>
                            <a:schemeClr val="accent2">
                              <a:lumMod val="50000"/>
                            </a:schemeClr>
                          </a:solidFill>
                          <a:latin typeface="Dubai Medium" panose="020B0603030403030204" pitchFamily="34" charset="-78"/>
                          <a:cs typeface="Dubai Medium" panose="020B0603030403030204" pitchFamily="34" charset="-78"/>
                        </a:rPr>
                        <a:t>Description and Techniques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IN" sz="2000" dirty="0">
                          <a:solidFill>
                            <a:schemeClr val="accent2">
                              <a:lumMod val="50000"/>
                            </a:schemeClr>
                          </a:solidFill>
                          <a:latin typeface="Dubai Medium" panose="020B0603030403030204" pitchFamily="34" charset="-78"/>
                          <a:cs typeface="Dubai Medium" panose="020B0603030403030204" pitchFamily="34" charset="-78"/>
                        </a:rPr>
                        <a:t>Results and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4004348796"/>
                  </a:ext>
                </a:extLst>
              </a:tr>
              <a:tr h="1337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rgbClr val="C00000"/>
                          </a:solidFill>
                          <a:latin typeface="Aptos" panose="020B0004020202020204" pitchFamily="34" charset="0"/>
                        </a:rPr>
                        <a:t>Transplant Quebec (2019)</a:t>
                      </a:r>
                    </a:p>
                    <a:p>
                      <a:endParaRPr lang="en-IN" sz="1200" dirty="0">
                        <a:solidFill>
                          <a:srgbClr val="C00000"/>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r>
                        <a:rPr lang="en-US" sz="1200" dirty="0">
                          <a:latin typeface="Aptos" panose="020B0004020202020204" pitchFamily="34" charset="0"/>
                        </a:rPr>
                        <a:t>Emphasized the adoption of online platforms and public education campaigns to improve organ donation processes. Techniques included leveraging digital systems for donor-recipient matching and implementing targeted awareness programs to engage communities. </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indent="0">
                        <a:buFont typeface="Arial" panose="020B0604020202020204" pitchFamily="34" charset="0"/>
                        <a:buNone/>
                      </a:pPr>
                      <a:r>
                        <a:rPr lang="en-US" sz="1200" dirty="0">
                          <a:latin typeface="Aptos" panose="020B0004020202020204" pitchFamily="34" charset="0"/>
                        </a:rPr>
                        <a:t>The initiative improved donor-recipient matching accuracy, significantly reducing organ wastage and increasing successful transplants. Public education campaigns boosted awareness, leading to higher donor registration rates and better community understanding of organ donation</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681795640"/>
                  </a:ext>
                </a:extLst>
              </a:tr>
              <a:tr h="1337545">
                <a:tc>
                  <a:txBody>
                    <a:bodyPr/>
                    <a:lstStyle/>
                    <a:p>
                      <a:r>
                        <a:rPr lang="sv-SE" sz="1600" dirty="0">
                          <a:solidFill>
                            <a:srgbClr val="C00000"/>
                          </a:solidFill>
                          <a:latin typeface="Aptos" panose="020B0004020202020204" pitchFamily="34" charset="0"/>
                        </a:rPr>
                        <a:t>Tepper, A., &amp; Bhattacharya, S. (2020)</a:t>
                      </a:r>
                      <a:endParaRPr lang="en-IN" sz="1600" dirty="0">
                        <a:solidFill>
                          <a:srgbClr val="C00000"/>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rPr>
                        <a:t>Tepper, A., &amp; Bhattacharya, S. (2020) explored the use of artificial intelligence (AI) in organ transplantation to enhance donor-recipient matching and predict transplant outcomes. Techniques involved machine learning algorithms to analyze compatibility factors and predict long-term success rates of transplants. </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rPr>
                        <a:t>The application of AI significantly improved the accuracy and speed of donor-recipient matching, reducing waiting times and organ wastage. Predictive models provided valuable insights into transplant success, helping healthcare providers make informed decisions.</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13424389"/>
                  </a:ext>
                </a:extLst>
              </a:tr>
              <a:tr h="1337545">
                <a:tc>
                  <a:txBody>
                    <a:bodyPr/>
                    <a:lstStyle/>
                    <a:p>
                      <a:r>
                        <a:rPr lang="sv-SE" sz="1600" dirty="0">
                          <a:solidFill>
                            <a:srgbClr val="C00000"/>
                          </a:solidFill>
                          <a:latin typeface="Aptos" panose="020B0004020202020204" pitchFamily="34" charset="0"/>
                        </a:rPr>
                        <a:t>Reddy, M., &amp; Kumar, V. (2019)</a:t>
                      </a:r>
                      <a:endParaRPr lang="en-IN" sz="1600" dirty="0">
                        <a:solidFill>
                          <a:srgbClr val="C00000"/>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rPr>
                        <a:t>Reddy, M., &amp; Kumar, V. (2019) focused on incorporating data analytics into organ donation systems to enable real-time allocation and matching. Techniques involved analyzing large datasets of donor and recipient information, including compatibility factors, medical history, and geographic proximity.</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r>
                        <a:rPr lang="en-US" sz="1200" dirty="0">
                          <a:latin typeface="Aptos" panose="020B0004020202020204" pitchFamily="34" charset="0"/>
                        </a:rPr>
                        <a:t>The integration of data analytics enhanced the efficiency of donor-recipient matching, reducing organ wastage and waiting times. Predictive models improved the accuracy of organ allocation decisions, leading to better transplant outcomes. </a:t>
                      </a:r>
                      <a:endParaRPr lang="en-IN"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769911276"/>
                  </a:ext>
                </a:extLst>
              </a:tr>
            </a:tbl>
          </a:graphicData>
        </a:graphic>
      </p:graphicFrame>
      <p:sp>
        <p:nvSpPr>
          <p:cNvPr id="4" name="Slide Number Placeholder 3">
            <a:extLst>
              <a:ext uri="{FF2B5EF4-FFF2-40B4-BE49-F238E27FC236}">
                <a16:creationId xmlns:a16="http://schemas.microsoft.com/office/drawing/2014/main" id="{F6CACA79-2834-FE4B-AC42-90556A9B9DEC}"/>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730376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294640" y="82297"/>
            <a:ext cx="8154416" cy="901677"/>
          </a:xfrm>
        </p:spPr>
        <p:txBody>
          <a:bodyPr/>
          <a:lstStyle/>
          <a:p>
            <a:br>
              <a:rPr lang="en-US" sz="4400" dirty="0">
                <a:solidFill>
                  <a:srgbClr val="C00000"/>
                </a:solidFill>
                <a:latin typeface="Dubai Medium" panose="020B0603030403030204" pitchFamily="34" charset="-78"/>
                <a:cs typeface="Dubai Medium" panose="020B0603030403030204" pitchFamily="34" charset="-78"/>
              </a:rPr>
            </a:br>
            <a:r>
              <a:rPr lang="en-US" sz="4400" dirty="0">
                <a:solidFill>
                  <a:srgbClr val="C00000"/>
                </a:solidFill>
                <a:latin typeface="Dubai Medium" panose="020B0603030403030204" pitchFamily="34" charset="-78"/>
                <a:cs typeface="Dubai Medium" panose="020B0603030403030204" pitchFamily="34" charset="-78"/>
              </a:rPr>
              <a:t>Software requirements </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223520" y="1040255"/>
            <a:ext cx="7841488" cy="5711465"/>
          </a:xfrm>
        </p:spPr>
        <p:txBody>
          <a:bodyPr>
            <a:normAutofit/>
          </a:bodyPr>
          <a:lstStyle/>
          <a:p>
            <a:pPr marL="457200" indent="-457200">
              <a:buAutoNum type="arabicPeriod"/>
            </a:pPr>
            <a:r>
              <a:rPr lang="en-US" sz="1400" dirty="0">
                <a:solidFill>
                  <a:schemeClr val="accent2">
                    <a:lumMod val="75000"/>
                  </a:schemeClr>
                </a:solidFill>
                <a:latin typeface="Dubai Medium" panose="020B0603030403030204" pitchFamily="34" charset="-78"/>
                <a:cs typeface="Dubai Medium" panose="020B0603030403030204" pitchFamily="34" charset="-78"/>
              </a:rPr>
              <a:t>Operating System </a:t>
            </a:r>
            <a:r>
              <a:rPr lang="en-US" sz="1400" dirty="0">
                <a:latin typeface="Dubai Medium" panose="020B0603030403030204" pitchFamily="34" charset="-78"/>
                <a:cs typeface="Dubai Medium" panose="020B0603030403030204" pitchFamily="34" charset="-78"/>
              </a:rPr>
              <a:t>: Windows 8 or 10</a:t>
            </a:r>
          </a:p>
          <a:p>
            <a:pPr marL="457200" indent="-457200">
              <a:buAutoNum type="arabicPeriod"/>
            </a:pPr>
            <a:r>
              <a:rPr lang="en-US" sz="1400" dirty="0">
                <a:solidFill>
                  <a:schemeClr val="accent2">
                    <a:lumMod val="75000"/>
                  </a:schemeClr>
                </a:solidFill>
                <a:latin typeface="Dubai Medium" panose="020B0603030403030204" pitchFamily="34" charset="-78"/>
                <a:cs typeface="Dubai Medium" panose="020B0603030403030204" pitchFamily="34" charset="-78"/>
              </a:rPr>
              <a:t>Database Server </a:t>
            </a:r>
            <a:r>
              <a:rPr lang="en-US" sz="1400" dirty="0">
                <a:latin typeface="Dubai Medium" panose="020B0603030403030204" pitchFamily="34" charset="-78"/>
                <a:cs typeface="Dubai Medium" panose="020B0603030403030204" pitchFamily="34" charset="-78"/>
              </a:rPr>
              <a:t>: MySQL Cloud (Firebase)</a:t>
            </a:r>
          </a:p>
          <a:p>
            <a:pPr marL="457200" indent="-457200">
              <a:buAutoNum type="arabicPeriod"/>
            </a:pPr>
            <a:r>
              <a:rPr lang="en-US" sz="1400" dirty="0">
                <a:solidFill>
                  <a:schemeClr val="accent2">
                    <a:lumMod val="75000"/>
                  </a:schemeClr>
                </a:solidFill>
                <a:latin typeface="Dubai Medium" panose="020B0603030403030204" pitchFamily="34" charset="-78"/>
                <a:cs typeface="Dubai Medium" panose="020B0603030403030204" pitchFamily="34" charset="-78"/>
              </a:rPr>
              <a:t>Clients </a:t>
            </a:r>
          </a:p>
          <a:p>
            <a:pPr marL="0" indent="0">
              <a:buNone/>
            </a:pPr>
            <a:r>
              <a:rPr lang="en-US" sz="1400" dirty="0">
                <a:latin typeface="Dubai Medium" panose="020B0603030403030204" pitchFamily="34" charset="-78"/>
                <a:cs typeface="Dubai Medium" panose="020B0603030403030204" pitchFamily="34" charset="-78"/>
              </a:rPr>
              <a:t>       Google Chrome </a:t>
            </a:r>
          </a:p>
          <a:p>
            <a:pPr marL="0" indent="0">
              <a:buNone/>
            </a:pPr>
            <a:r>
              <a:rPr lang="en-US" sz="1400" dirty="0">
                <a:latin typeface="Dubai Medium" panose="020B0603030403030204" pitchFamily="34" charset="-78"/>
                <a:cs typeface="Dubai Medium" panose="020B0603030403030204" pitchFamily="34" charset="-78"/>
              </a:rPr>
              <a:t>       Internet Explorer</a:t>
            </a:r>
          </a:p>
          <a:p>
            <a:pPr marL="0" indent="0">
              <a:buNone/>
            </a:pPr>
            <a:r>
              <a:rPr lang="en-US" sz="1400" dirty="0">
                <a:latin typeface="Dubai Medium" panose="020B0603030403030204" pitchFamily="34" charset="-78"/>
                <a:cs typeface="Dubai Medium" panose="020B0603030403030204" pitchFamily="34" charset="-78"/>
              </a:rPr>
              <a:t>4. </a:t>
            </a:r>
            <a:r>
              <a:rPr lang="en-US" sz="1400" dirty="0">
                <a:solidFill>
                  <a:schemeClr val="accent2">
                    <a:lumMod val="75000"/>
                  </a:schemeClr>
                </a:solidFill>
                <a:latin typeface="Dubai Medium" panose="020B0603030403030204" pitchFamily="34" charset="-78"/>
                <a:cs typeface="Dubai Medium" panose="020B0603030403030204" pitchFamily="34" charset="-78"/>
              </a:rPr>
              <a:t>User Interface </a:t>
            </a:r>
            <a:r>
              <a:rPr lang="en-US" sz="1400" dirty="0">
                <a:latin typeface="Dubai Medium" panose="020B0603030403030204" pitchFamily="34" charset="-78"/>
                <a:cs typeface="Dubai Medium" panose="020B0603030403030204" pitchFamily="34" charset="-78"/>
              </a:rPr>
              <a:t>(UI) : HTML</a:t>
            </a:r>
          </a:p>
          <a:p>
            <a:pPr marL="0" indent="0">
              <a:buNone/>
            </a:pPr>
            <a:r>
              <a:rPr lang="en-US" sz="1400" dirty="0">
                <a:latin typeface="Dubai Medium" panose="020B0603030403030204" pitchFamily="34" charset="-78"/>
                <a:cs typeface="Dubai Medium" panose="020B0603030403030204" pitchFamily="34" charset="-78"/>
              </a:rPr>
              <a:t>                                CSS</a:t>
            </a:r>
          </a:p>
          <a:p>
            <a:pPr marL="0" indent="0">
              <a:buNone/>
            </a:pPr>
            <a:r>
              <a:rPr lang="en-US" sz="1400" dirty="0">
                <a:latin typeface="Dubai Medium" panose="020B0603030403030204" pitchFamily="34" charset="-78"/>
                <a:cs typeface="Dubai Medium" panose="020B0603030403030204" pitchFamily="34" charset="-78"/>
              </a:rPr>
              <a:t>                                 XML</a:t>
            </a:r>
          </a:p>
          <a:p>
            <a:pPr marL="0" indent="0">
              <a:buNone/>
            </a:pPr>
            <a:r>
              <a:rPr lang="en-US" sz="1400" dirty="0">
                <a:latin typeface="Dubai Medium" panose="020B0603030403030204" pitchFamily="34" charset="-78"/>
                <a:cs typeface="Dubai Medium" panose="020B0603030403030204" pitchFamily="34" charset="-78"/>
              </a:rPr>
              <a:t>                                 JAVA 7 (5.3.2)</a:t>
            </a:r>
          </a:p>
          <a:p>
            <a:pPr marL="0" indent="0">
              <a:buNone/>
            </a:pPr>
            <a:r>
              <a:rPr lang="en-US" sz="4400" dirty="0">
                <a:solidFill>
                  <a:srgbClr val="C00000"/>
                </a:solidFill>
                <a:latin typeface="Dubai Medium" panose="020B0603030403030204" pitchFamily="34" charset="-78"/>
                <a:cs typeface="Dubai Medium" panose="020B0603030403030204" pitchFamily="34" charset="-78"/>
              </a:rPr>
              <a:t>Hardware requirements</a:t>
            </a:r>
          </a:p>
          <a:p>
            <a:pPr marL="342900" indent="-342900">
              <a:buAutoNum type="arabicPeriod"/>
            </a:pPr>
            <a:r>
              <a:rPr lang="en-US" sz="1600" dirty="0">
                <a:latin typeface="Dubai Medium" panose="020B0603030403030204" pitchFamily="34" charset="-78"/>
                <a:cs typeface="Dubai Medium" panose="020B0603030403030204" pitchFamily="34" charset="-78"/>
              </a:rPr>
              <a:t>PC with 128GB hard disk and 256MB RAM</a:t>
            </a:r>
          </a:p>
          <a:p>
            <a:pPr marL="342900" indent="-342900">
              <a:buAutoNum type="arabicPeriod"/>
            </a:pPr>
            <a:r>
              <a:rPr lang="en-US" sz="1600" dirty="0">
                <a:latin typeface="Dubai Medium" panose="020B0603030403030204" pitchFamily="34" charset="-78"/>
                <a:cs typeface="Dubai Medium" panose="020B0603030403030204" pitchFamily="34" charset="-78"/>
              </a:rPr>
              <a:t>Mobile having SDK version above 25.5.3.3</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pic>
        <p:nvPicPr>
          <p:cNvPr id="2" name="Picture 1">
            <a:extLst>
              <a:ext uri="{FF2B5EF4-FFF2-40B4-BE49-F238E27FC236}">
                <a16:creationId xmlns:a16="http://schemas.microsoft.com/office/drawing/2014/main" id="{215CA591-BD8D-DA77-D35A-966D7E0FF8CB}"/>
              </a:ext>
            </a:extLst>
          </p:cNvPr>
          <p:cNvPicPr>
            <a:picLocks noChangeAspect="1"/>
          </p:cNvPicPr>
          <p:nvPr/>
        </p:nvPicPr>
        <p:blipFill>
          <a:blip r:embed="rId3"/>
          <a:stretch>
            <a:fillRect/>
          </a:stretch>
        </p:blipFill>
        <p:spPr>
          <a:xfrm>
            <a:off x="6736080" y="106279"/>
            <a:ext cx="5232400" cy="2914903"/>
          </a:xfrm>
          <a:prstGeom prst="rect">
            <a:avLst/>
          </a:prstGeom>
        </p:spPr>
      </p:pic>
      <p:pic>
        <p:nvPicPr>
          <p:cNvPr id="5" name="Picture 4">
            <a:extLst>
              <a:ext uri="{FF2B5EF4-FFF2-40B4-BE49-F238E27FC236}">
                <a16:creationId xmlns:a16="http://schemas.microsoft.com/office/drawing/2014/main" id="{C01AB784-8414-E7C7-FF16-54932769778A}"/>
              </a:ext>
            </a:extLst>
          </p:cNvPr>
          <p:cNvPicPr>
            <a:picLocks noChangeAspect="1"/>
          </p:cNvPicPr>
          <p:nvPr/>
        </p:nvPicPr>
        <p:blipFill>
          <a:blip r:embed="rId4"/>
          <a:stretch>
            <a:fillRect/>
          </a:stretch>
        </p:blipFill>
        <p:spPr>
          <a:xfrm>
            <a:off x="6736080" y="3077463"/>
            <a:ext cx="5279135" cy="3698240"/>
          </a:xfrm>
          <a:prstGeom prst="rect">
            <a:avLst/>
          </a:prstGeom>
        </p:spPr>
      </p:pic>
    </p:spTree>
    <p:extLst>
      <p:ext uri="{BB962C8B-B14F-4D97-AF65-F5344CB8AC3E}">
        <p14:creationId xmlns:p14="http://schemas.microsoft.com/office/powerpoint/2010/main" val="1966913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D242-F797-2DA9-90C5-E083DEC8383F}"/>
              </a:ext>
            </a:extLst>
          </p:cNvPr>
          <p:cNvSpPr>
            <a:spLocks noGrp="1"/>
          </p:cNvSpPr>
          <p:nvPr>
            <p:ph type="title"/>
          </p:nvPr>
        </p:nvSpPr>
        <p:spPr>
          <a:xfrm>
            <a:off x="498794" y="243840"/>
            <a:ext cx="11310882" cy="670560"/>
          </a:xfrm>
        </p:spPr>
        <p:txBody>
          <a:bodyPr/>
          <a:lstStyle/>
          <a:p>
            <a:pPr algn="ctr"/>
            <a:r>
              <a:rPr lang="en-IN" sz="3200" dirty="0">
                <a:latin typeface="Dubai Medium" panose="020B0603030403030204" pitchFamily="34" charset="-78"/>
                <a:cs typeface="Dubai Medium" panose="020B0603030403030204" pitchFamily="34" charset="-78"/>
              </a:rPr>
              <a:t> </a:t>
            </a:r>
            <a:br>
              <a:rPr lang="en-IN" sz="3200" dirty="0">
                <a:latin typeface="Dubai Medium" panose="020B0603030403030204" pitchFamily="34" charset="-78"/>
                <a:cs typeface="Dubai Medium" panose="020B0603030403030204" pitchFamily="34" charset="-78"/>
              </a:rPr>
            </a:br>
            <a:r>
              <a:rPr lang="en-IN" sz="4400" dirty="0">
                <a:solidFill>
                  <a:srgbClr val="C00000"/>
                </a:solidFill>
                <a:latin typeface="Dubai Medium" panose="020B0603030403030204" pitchFamily="34" charset="-78"/>
                <a:cs typeface="Dubai Medium" panose="020B0603030403030204" pitchFamily="34" charset="-78"/>
              </a:rPr>
              <a:t>Design and methodology</a:t>
            </a:r>
            <a:endParaRPr lang="en-IN" dirty="0">
              <a:solidFill>
                <a:srgbClr val="C00000"/>
              </a:solidFill>
            </a:endParaRPr>
          </a:p>
        </p:txBody>
      </p:sp>
      <p:sp>
        <p:nvSpPr>
          <p:cNvPr id="4" name="Slide Number Placeholder 3">
            <a:extLst>
              <a:ext uri="{FF2B5EF4-FFF2-40B4-BE49-F238E27FC236}">
                <a16:creationId xmlns:a16="http://schemas.microsoft.com/office/drawing/2014/main" id="{C41F99F0-CE6B-67DF-F340-BC3AF405A0AE}"/>
              </a:ext>
            </a:extLst>
          </p:cNvPr>
          <p:cNvSpPr>
            <a:spLocks noGrp="1"/>
          </p:cNvSpPr>
          <p:nvPr>
            <p:ph type="sldNum" sz="quarter" idx="4"/>
          </p:nvPr>
        </p:nvSpPr>
        <p:spPr/>
        <p:txBody>
          <a:bodyPr/>
          <a:lstStyle/>
          <a:p>
            <a:fld id="{58FB4751-880F-D840-AAA9-3A15815CC996}" type="slidenum">
              <a:rPr lang="en-US" smtClean="0"/>
              <a:pPr/>
              <a:t>11</a:t>
            </a:fld>
            <a:endParaRPr lang="en-US" dirty="0"/>
          </a:p>
        </p:txBody>
      </p:sp>
      <p:pic>
        <p:nvPicPr>
          <p:cNvPr id="11" name="Content Placeholder 10">
            <a:extLst>
              <a:ext uri="{FF2B5EF4-FFF2-40B4-BE49-F238E27FC236}">
                <a16:creationId xmlns:a16="http://schemas.microsoft.com/office/drawing/2014/main" id="{223A7C94-AFA9-E64D-2071-AE96502BD0DB}"/>
              </a:ext>
            </a:extLst>
          </p:cNvPr>
          <p:cNvPicPr>
            <a:picLocks noGrp="1" noChangeAspect="1"/>
          </p:cNvPicPr>
          <p:nvPr>
            <p:ph sz="quarter" idx="10"/>
          </p:nvPr>
        </p:nvPicPr>
        <p:blipFill>
          <a:blip r:embed="rId3"/>
          <a:stretch>
            <a:fillRect/>
          </a:stretch>
        </p:blipFill>
        <p:spPr>
          <a:xfrm>
            <a:off x="498793" y="1002178"/>
            <a:ext cx="11310882" cy="4853644"/>
          </a:xfrm>
        </p:spPr>
      </p:pic>
      <p:sp>
        <p:nvSpPr>
          <p:cNvPr id="3" name="TextBox 2">
            <a:extLst>
              <a:ext uri="{FF2B5EF4-FFF2-40B4-BE49-F238E27FC236}">
                <a16:creationId xmlns:a16="http://schemas.microsoft.com/office/drawing/2014/main" id="{F9D7A0B2-C49F-5431-B0A4-CEC04B629DE8}"/>
              </a:ext>
            </a:extLst>
          </p:cNvPr>
          <p:cNvSpPr txBox="1"/>
          <p:nvPr/>
        </p:nvSpPr>
        <p:spPr>
          <a:xfrm>
            <a:off x="498793" y="5879804"/>
            <a:ext cx="11310883" cy="584775"/>
          </a:xfrm>
          <a:prstGeom prst="rect">
            <a:avLst/>
          </a:prstGeom>
          <a:noFill/>
        </p:spPr>
        <p:txBody>
          <a:bodyPr wrap="square" rtlCol="0">
            <a:spAutoFit/>
          </a:bodyPr>
          <a:lstStyle/>
          <a:p>
            <a:r>
              <a:rPr lang="en-US" sz="3200" dirty="0">
                <a:latin typeface="Aptos" panose="020B0004020202020204" pitchFamily="34" charset="0"/>
                <a:cs typeface="Dubai Medium" panose="020B0603030403030204" pitchFamily="34" charset="-78"/>
              </a:rPr>
              <a:t> </a:t>
            </a:r>
            <a:endParaRPr lang="en-IN" sz="3200" dirty="0">
              <a:latin typeface="Aptos" panose="020B0004020202020204" pitchFamily="34" charset="0"/>
              <a:cs typeface="Dubai Medium" panose="020B0603030403030204" pitchFamily="34" charset="-78"/>
            </a:endParaRPr>
          </a:p>
        </p:txBody>
      </p:sp>
    </p:spTree>
    <p:extLst>
      <p:ext uri="{BB962C8B-B14F-4D97-AF65-F5344CB8AC3E}">
        <p14:creationId xmlns:p14="http://schemas.microsoft.com/office/powerpoint/2010/main" val="3904553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E77204-46C1-A6FF-479A-A4CE5F6C8BEB}"/>
              </a:ext>
            </a:extLst>
          </p:cNvPr>
          <p:cNvSpPr>
            <a:spLocks noGrp="1"/>
          </p:cNvSpPr>
          <p:nvPr>
            <p:ph type="sldNum" sz="quarter" idx="4"/>
          </p:nvPr>
        </p:nvSpPr>
        <p:spPr/>
        <p:txBody>
          <a:bodyPr/>
          <a:lstStyle/>
          <a:p>
            <a:fld id="{58FB4751-880F-D840-AAA9-3A15815CC996}" type="slidenum">
              <a:rPr lang="en-US" smtClean="0"/>
              <a:pPr/>
              <a:t>12</a:t>
            </a:fld>
            <a:endParaRPr lang="en-US" dirty="0"/>
          </a:p>
        </p:txBody>
      </p:sp>
      <p:pic>
        <p:nvPicPr>
          <p:cNvPr id="5" name="Content Placeholder 4">
            <a:extLst>
              <a:ext uri="{FF2B5EF4-FFF2-40B4-BE49-F238E27FC236}">
                <a16:creationId xmlns:a16="http://schemas.microsoft.com/office/drawing/2014/main" id="{A0E55F9B-A5B9-1319-1F1D-9F8DB0FAA4CA}"/>
              </a:ext>
            </a:extLst>
          </p:cNvPr>
          <p:cNvPicPr>
            <a:picLocks noGrp="1" noChangeAspect="1"/>
          </p:cNvPicPr>
          <p:nvPr>
            <p:ph type="tbl" sz="quarter" idx="4294967295"/>
          </p:nvPr>
        </p:nvPicPr>
        <p:blipFill>
          <a:blip r:embed="rId2"/>
          <a:stretch>
            <a:fillRect/>
          </a:stretch>
        </p:blipFill>
        <p:spPr>
          <a:xfrm>
            <a:off x="525516" y="578069"/>
            <a:ext cx="11046373" cy="5126540"/>
          </a:xfrm>
          <a:prstGeom prst="rect">
            <a:avLst/>
          </a:prstGeom>
        </p:spPr>
      </p:pic>
      <p:sp>
        <p:nvSpPr>
          <p:cNvPr id="7" name="TextBox 6">
            <a:extLst>
              <a:ext uri="{FF2B5EF4-FFF2-40B4-BE49-F238E27FC236}">
                <a16:creationId xmlns:a16="http://schemas.microsoft.com/office/drawing/2014/main" id="{0066403B-C43F-9902-4A12-28502928FECA}"/>
              </a:ext>
            </a:extLst>
          </p:cNvPr>
          <p:cNvSpPr txBox="1"/>
          <p:nvPr/>
        </p:nvSpPr>
        <p:spPr>
          <a:xfrm>
            <a:off x="602673" y="5704609"/>
            <a:ext cx="10952018" cy="523220"/>
          </a:xfrm>
          <a:prstGeom prst="rect">
            <a:avLst/>
          </a:prstGeom>
          <a:solidFill>
            <a:schemeClr val="tx2">
              <a:lumMod val="40000"/>
              <a:lumOff val="60000"/>
            </a:schemeClr>
          </a:solidFill>
        </p:spPr>
        <p:txBody>
          <a:bodyPr wrap="square" rtlCol="0">
            <a:spAutoFit/>
          </a:bodyPr>
          <a:lstStyle/>
          <a:p>
            <a:r>
              <a:rPr lang="en-US" sz="2800" b="1" dirty="0">
                <a:solidFill>
                  <a:srgbClr val="C00000"/>
                </a:solidFill>
                <a:latin typeface="Arial Rounded MT Bold" panose="020F0704030504030204" pitchFamily="34" charset="0"/>
              </a:rPr>
              <a:t>Blood Bank and Organ Donation Management System</a:t>
            </a:r>
            <a:endParaRPr lang="en-IN" sz="2800" dirty="0"/>
          </a:p>
        </p:txBody>
      </p:sp>
    </p:spTree>
    <p:extLst>
      <p:ext uri="{BB962C8B-B14F-4D97-AF65-F5344CB8AC3E}">
        <p14:creationId xmlns:p14="http://schemas.microsoft.com/office/powerpoint/2010/main" val="718268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6B27DA-7E2D-0F7E-5046-D0DBCBC90D9D}"/>
              </a:ext>
            </a:extLst>
          </p:cNvPr>
          <p:cNvSpPr>
            <a:spLocks noGrp="1"/>
          </p:cNvSpPr>
          <p:nvPr>
            <p:ph type="sldNum" sz="quarter" idx="4"/>
          </p:nvPr>
        </p:nvSpPr>
        <p:spPr/>
        <p:txBody>
          <a:bodyPr/>
          <a:lstStyle/>
          <a:p>
            <a:fld id="{58FB4751-880F-D840-AAA9-3A15815CC996}" type="slidenum">
              <a:rPr lang="en-US" smtClean="0"/>
              <a:pPr/>
              <a:t>13</a:t>
            </a:fld>
            <a:endParaRPr lang="en-US" dirty="0"/>
          </a:p>
        </p:txBody>
      </p:sp>
      <p:pic>
        <p:nvPicPr>
          <p:cNvPr id="2056" name="Picture 8" descr="GitHub - keroles19/blood-bank: The blood bank application aims to  facilitate the process of donating blood and reach donors with great ease,  the application is keen to maintain the privacy of donor data">
            <a:extLst>
              <a:ext uri="{FF2B5EF4-FFF2-40B4-BE49-F238E27FC236}">
                <a16:creationId xmlns:a16="http://schemas.microsoft.com/office/drawing/2014/main" id="{39F5B66D-3BFA-2BD9-DF43-F94858EB0D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488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9C641A-CE09-D083-FAE8-BF880DBA7345}"/>
              </a:ext>
            </a:extLst>
          </p:cNvPr>
          <p:cNvSpPr>
            <a:spLocks noGrp="1"/>
          </p:cNvSpPr>
          <p:nvPr>
            <p:ph type="sldNum" sz="quarter" idx="4"/>
          </p:nvPr>
        </p:nvSpPr>
        <p:spPr/>
        <p:txBody>
          <a:bodyPr/>
          <a:lstStyle/>
          <a:p>
            <a:fld id="{58FB4751-880F-D840-AAA9-3A15815CC996}" type="slidenum">
              <a:rPr lang="en-US" smtClean="0"/>
              <a:pPr/>
              <a:t>14</a:t>
            </a:fld>
            <a:endParaRPr lang="en-US" dirty="0"/>
          </a:p>
        </p:txBody>
      </p:sp>
      <p:pic>
        <p:nvPicPr>
          <p:cNvPr id="3074" name="Picture 2" descr="Blood Bank Management System using PHP/MySQLi with Source Code |  SourceCodester">
            <a:extLst>
              <a:ext uri="{FF2B5EF4-FFF2-40B4-BE49-F238E27FC236}">
                <a16:creationId xmlns:a16="http://schemas.microsoft.com/office/drawing/2014/main" id="{85FD1DC6-B8A2-673A-2ED2-8BED76D7F9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055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B33A3D-2215-395E-D7F0-30E0638AF95A}"/>
              </a:ext>
            </a:extLst>
          </p:cNvPr>
          <p:cNvSpPr>
            <a:spLocks noGrp="1"/>
          </p:cNvSpPr>
          <p:nvPr>
            <p:ph type="sldNum" sz="quarter" idx="4"/>
          </p:nvPr>
        </p:nvSpPr>
        <p:spPr/>
        <p:txBody>
          <a:bodyPr/>
          <a:lstStyle/>
          <a:p>
            <a:fld id="{58FB4751-880F-D840-AAA9-3A15815CC996}" type="slidenum">
              <a:rPr lang="en-US" smtClean="0"/>
              <a:pPr/>
              <a:t>15</a:t>
            </a:fld>
            <a:endParaRPr lang="en-US" dirty="0"/>
          </a:p>
        </p:txBody>
      </p:sp>
      <p:pic>
        <p:nvPicPr>
          <p:cNvPr id="4098" name="Picture 2" descr="Blood Bank Management Project | Spring Boot ReactJS Project Tutorial |  Spring Boot CRUD Project - YouTube">
            <a:extLst>
              <a:ext uri="{FF2B5EF4-FFF2-40B4-BE49-F238E27FC236}">
                <a16:creationId xmlns:a16="http://schemas.microsoft.com/office/drawing/2014/main" id="{11FC45D3-911C-BB52-D9FF-498056BA7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992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E8DD4E-111B-D9C1-4875-D22D719DAD0F}"/>
              </a:ext>
            </a:extLst>
          </p:cNvPr>
          <p:cNvSpPr>
            <a:spLocks noGrp="1"/>
          </p:cNvSpPr>
          <p:nvPr>
            <p:ph type="sldNum" sz="quarter" idx="4"/>
          </p:nvPr>
        </p:nvSpPr>
        <p:spPr/>
        <p:txBody>
          <a:bodyPr/>
          <a:lstStyle/>
          <a:p>
            <a:fld id="{58FB4751-880F-D840-AAA9-3A15815CC996}" type="slidenum">
              <a:rPr lang="en-US" smtClean="0"/>
              <a:pPr/>
              <a:t>16</a:t>
            </a:fld>
            <a:endParaRPr lang="en-US" dirty="0"/>
          </a:p>
        </p:txBody>
      </p:sp>
      <p:pic>
        <p:nvPicPr>
          <p:cNvPr id="1030" name="Picture 6">
            <a:extLst>
              <a:ext uri="{FF2B5EF4-FFF2-40B4-BE49-F238E27FC236}">
                <a16:creationId xmlns:a16="http://schemas.microsoft.com/office/drawing/2014/main" id="{341CDCFE-E315-D065-5D82-992D26B404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732" y="516468"/>
            <a:ext cx="10803467" cy="6087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310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6CD0F-E04B-15BD-309B-AD87A951AC7C}"/>
              </a:ext>
            </a:extLst>
          </p:cNvPr>
          <p:cNvSpPr>
            <a:spLocks noGrp="1"/>
          </p:cNvSpPr>
          <p:nvPr>
            <p:ph type="title"/>
          </p:nvPr>
        </p:nvSpPr>
        <p:spPr>
          <a:xfrm>
            <a:off x="147146" y="1"/>
            <a:ext cx="5653994" cy="1252329"/>
          </a:xfrm>
        </p:spPr>
        <p:txBody>
          <a:bodyPr/>
          <a:lstStyle/>
          <a:p>
            <a:pPr algn="ctr"/>
            <a:r>
              <a:rPr lang="en-US" sz="6000" dirty="0">
                <a:solidFill>
                  <a:srgbClr val="C00000"/>
                </a:solidFill>
                <a:latin typeface="Dubai Medium" panose="020B0603030403030204" pitchFamily="34" charset="-78"/>
                <a:cs typeface="Dubai Medium" panose="020B0603030403030204" pitchFamily="34" charset="-78"/>
              </a:rPr>
              <a:t>Conclusion</a:t>
            </a:r>
            <a:r>
              <a:rPr lang="en-US" sz="6000" dirty="0">
                <a:solidFill>
                  <a:schemeClr val="tx1">
                    <a:lumMod val="95000"/>
                    <a:lumOff val="5000"/>
                  </a:schemeClr>
                </a:solidFill>
                <a:latin typeface="Dubai Medium" panose="020B0603030403030204" pitchFamily="34" charset="-78"/>
                <a:cs typeface="Dubai Medium" panose="020B0603030403030204" pitchFamily="34" charset="-78"/>
              </a:rPr>
              <a:t> </a:t>
            </a:r>
            <a:endParaRPr lang="en-IN" sz="6000" dirty="0">
              <a:solidFill>
                <a:schemeClr val="tx1">
                  <a:lumMod val="95000"/>
                  <a:lumOff val="5000"/>
                </a:schemeClr>
              </a:solidFill>
              <a:latin typeface="Dubai Medium" panose="020B0603030403030204" pitchFamily="34" charset="-78"/>
              <a:cs typeface="Dubai Medium" panose="020B0603030403030204" pitchFamily="34" charset="-78"/>
            </a:endParaRPr>
          </a:p>
        </p:txBody>
      </p:sp>
      <p:sp>
        <p:nvSpPr>
          <p:cNvPr id="3" name="Content Placeholder 2">
            <a:extLst>
              <a:ext uri="{FF2B5EF4-FFF2-40B4-BE49-F238E27FC236}">
                <a16:creationId xmlns:a16="http://schemas.microsoft.com/office/drawing/2014/main" id="{5C51DC7C-9187-D6DA-F81D-A934A6F7A74B}"/>
              </a:ext>
            </a:extLst>
          </p:cNvPr>
          <p:cNvSpPr>
            <a:spLocks noGrp="1"/>
          </p:cNvSpPr>
          <p:nvPr>
            <p:ph sz="quarter" idx="10"/>
          </p:nvPr>
        </p:nvSpPr>
        <p:spPr>
          <a:xfrm>
            <a:off x="1" y="1685365"/>
            <a:ext cx="6537434" cy="5172635"/>
          </a:xfrm>
        </p:spPr>
        <p:txBody>
          <a:bodyPr>
            <a:normAutofit/>
          </a:bodyPr>
          <a:lstStyle/>
          <a:p>
            <a:pPr marL="0" indent="0">
              <a:buNone/>
            </a:pPr>
            <a:r>
              <a:rPr lang="en-US" sz="2800" dirty="0">
                <a:latin typeface="Dubai Medium" panose="020B0603030403030204" pitchFamily="34" charset="-78"/>
                <a:cs typeface="Dubai Medium" panose="020B0603030403030204" pitchFamily="34" charset="-78"/>
              </a:rPr>
              <a:t>The </a:t>
            </a:r>
            <a:r>
              <a:rPr lang="en-US" sz="2800" b="1" dirty="0">
                <a:solidFill>
                  <a:srgbClr val="C00000"/>
                </a:solidFill>
                <a:latin typeface="Arial Rounded MT Bold" panose="020F0704030504030204" pitchFamily="34" charset="0"/>
              </a:rPr>
              <a:t>Blood Bank and Organ Donation Management System </a:t>
            </a:r>
            <a:r>
              <a:rPr lang="en-US" sz="2800" dirty="0">
                <a:latin typeface="Dubai Medium" panose="020B0603030403030204" pitchFamily="34" charset="-78"/>
                <a:cs typeface="Dubai Medium" panose="020B0603030403030204" pitchFamily="34" charset="-78"/>
              </a:rPr>
              <a:t>is designed to make the process of organ donation simple, efficient, and reliable. It helps connect donors and recipients quickly while ensuring secure handling of their data. By providing real-time updates and easy access through a website and mobile app, the system reduces the time needed to find matching organs. </a:t>
            </a:r>
            <a:endParaRPr lang="en-IN" dirty="0">
              <a:latin typeface="Dubai Medium" panose="020B0603030403030204" pitchFamily="34" charset="-78"/>
              <a:cs typeface="Dubai Medium" panose="020B0603030403030204" pitchFamily="34" charset="-78"/>
            </a:endParaRPr>
          </a:p>
        </p:txBody>
      </p:sp>
      <p:sp>
        <p:nvSpPr>
          <p:cNvPr id="4" name="Slide Number Placeholder 3">
            <a:extLst>
              <a:ext uri="{FF2B5EF4-FFF2-40B4-BE49-F238E27FC236}">
                <a16:creationId xmlns:a16="http://schemas.microsoft.com/office/drawing/2014/main" id="{6DE410C5-E6E0-8C98-7264-53BCD22A4BE0}"/>
              </a:ext>
            </a:extLst>
          </p:cNvPr>
          <p:cNvSpPr>
            <a:spLocks noGrp="1"/>
          </p:cNvSpPr>
          <p:nvPr>
            <p:ph type="sldNum" sz="quarter" idx="4"/>
          </p:nvPr>
        </p:nvSpPr>
        <p:spPr/>
        <p:txBody>
          <a:bodyPr/>
          <a:lstStyle/>
          <a:p>
            <a:fld id="{58FB4751-880F-D840-AAA9-3A15815CC996}" type="slidenum">
              <a:rPr lang="en-US" smtClean="0"/>
              <a:pPr/>
              <a:t>17</a:t>
            </a:fld>
            <a:endParaRPr lang="en-US" dirty="0"/>
          </a:p>
        </p:txBody>
      </p:sp>
      <p:pic>
        <p:nvPicPr>
          <p:cNvPr id="4100" name="Picture 4" descr="8 Health Benefits of Donating Blood">
            <a:extLst>
              <a:ext uri="{FF2B5EF4-FFF2-40B4-BE49-F238E27FC236}">
                <a16:creationId xmlns:a16="http://schemas.microsoft.com/office/drawing/2014/main" id="{5952CF72-0E9E-2BE7-F2BB-8EE462AB00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0861" y="0"/>
            <a:ext cx="58011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840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91FC7-71FF-9C8F-BA10-E2DC8B2230FD}"/>
              </a:ext>
            </a:extLst>
          </p:cNvPr>
          <p:cNvSpPr>
            <a:spLocks noGrp="1"/>
          </p:cNvSpPr>
          <p:nvPr>
            <p:ph type="title"/>
          </p:nvPr>
        </p:nvSpPr>
        <p:spPr>
          <a:xfrm>
            <a:off x="536028" y="101599"/>
            <a:ext cx="10817772" cy="844331"/>
          </a:xfrm>
        </p:spPr>
        <p:txBody>
          <a:bodyPr/>
          <a:lstStyle/>
          <a:p>
            <a:r>
              <a:rPr lang="en-US" sz="4400" dirty="0">
                <a:solidFill>
                  <a:srgbClr val="C00000"/>
                </a:solidFill>
              </a:rPr>
              <a:t>References</a:t>
            </a:r>
            <a:endParaRPr lang="en-IN" sz="4400" dirty="0">
              <a:solidFill>
                <a:srgbClr val="C00000"/>
              </a:solidFill>
            </a:endParaRPr>
          </a:p>
        </p:txBody>
      </p:sp>
      <p:sp>
        <p:nvSpPr>
          <p:cNvPr id="3" name="Content Placeholder 2">
            <a:extLst>
              <a:ext uri="{FF2B5EF4-FFF2-40B4-BE49-F238E27FC236}">
                <a16:creationId xmlns:a16="http://schemas.microsoft.com/office/drawing/2014/main" id="{DAD3CF71-C85F-98D9-DAF9-66939419A3F0}"/>
              </a:ext>
            </a:extLst>
          </p:cNvPr>
          <p:cNvSpPr>
            <a:spLocks noGrp="1"/>
          </p:cNvSpPr>
          <p:nvPr>
            <p:ph sz="quarter" idx="10"/>
          </p:nvPr>
        </p:nvSpPr>
        <p:spPr>
          <a:xfrm>
            <a:off x="176784" y="1345324"/>
            <a:ext cx="11177016" cy="5268836"/>
          </a:xfrm>
        </p:spPr>
        <p:txBody>
          <a:bodyPr>
            <a:normAutofit/>
          </a:bodyPr>
          <a:lstStyle/>
          <a:p>
            <a:pPr marL="457200" indent="-457200">
              <a:buAutoNum type="arabicPeriod"/>
            </a:pPr>
            <a:r>
              <a:rPr lang="en-US" dirty="0">
                <a:latin typeface="Dubai Medium" panose="020B0603030403030204" pitchFamily="34" charset="-78"/>
                <a:cs typeface="Dubai Medium" panose="020B0603030403030204" pitchFamily="34" charset="-78"/>
              </a:rPr>
              <a:t>Abhay Yadav, et al. (2023). "Development of Mobile and Web-Based Platform for Organ Donation: Improving Donor-Recipient Matching and Awareness." Journal of Healthcare Technology, 32(1), 45-58.</a:t>
            </a:r>
          </a:p>
          <a:p>
            <a:pPr marL="457200" indent="-457200">
              <a:buAutoNum type="arabicPeriod"/>
            </a:pPr>
            <a:r>
              <a:rPr lang="en-US" dirty="0">
                <a:latin typeface="Dubai Medium" panose="020B0603030403030204" pitchFamily="34" charset="-78"/>
                <a:cs typeface="Dubai Medium" panose="020B0603030403030204" pitchFamily="34" charset="-78"/>
              </a:rPr>
              <a:t> The Better India. (2016). "Raising Awareness About Organ Donation in India: Overcoming Myths and Cultural Barriers." The Better India Blog.</a:t>
            </a:r>
          </a:p>
          <a:p>
            <a:pPr marL="457200" indent="-457200">
              <a:buAutoNum type="arabicPeriod"/>
            </a:pPr>
            <a:r>
              <a:rPr lang="en-US" dirty="0">
                <a:latin typeface="Dubai Medium" panose="020B0603030403030204" pitchFamily="34" charset="-78"/>
                <a:cs typeface="Dubai Medium" panose="020B0603030403030204" pitchFamily="34" charset="-78"/>
              </a:rPr>
              <a:t>Notto.gov.in. (2019). "National Organ and Tissue Transplantation Report: Trends and Real-Time Matching Systems." National Organ Transplant Organization.</a:t>
            </a:r>
          </a:p>
          <a:p>
            <a:pPr marL="457200" indent="-457200">
              <a:buAutoNum type="arabicPeriod"/>
            </a:pPr>
            <a:r>
              <a:rPr lang="en-US" dirty="0">
                <a:latin typeface="Dubai Medium" panose="020B0603030403030204" pitchFamily="34" charset="-78"/>
                <a:cs typeface="Dubai Medium" panose="020B0603030403030204" pitchFamily="34" charset="-78"/>
              </a:rPr>
              <a:t> V. B. </a:t>
            </a:r>
            <a:r>
              <a:rPr lang="en-US" dirty="0" err="1">
                <a:latin typeface="Dubai Medium" panose="020B0603030403030204" pitchFamily="34" charset="-78"/>
                <a:cs typeface="Dubai Medium" panose="020B0603030403030204" pitchFamily="34" charset="-78"/>
              </a:rPr>
              <a:t>Kute</a:t>
            </a:r>
            <a:r>
              <a:rPr lang="en-US" dirty="0">
                <a:latin typeface="Dubai Medium" panose="020B0603030403030204" pitchFamily="34" charset="-78"/>
                <a:cs typeface="Dubai Medium" panose="020B0603030403030204" pitchFamily="34" charset="-78"/>
              </a:rPr>
              <a:t> (2022). "Improving Renal Transplant Outcomes: A Study on Digital Platforms for Organ Tracking and Allocation." Indian Journal of Nephrology, 32(4), 271-279.</a:t>
            </a:r>
          </a:p>
          <a:p>
            <a:pPr marL="457200" indent="-457200">
              <a:buAutoNum type="arabicPeriod"/>
            </a:pPr>
            <a:r>
              <a:rPr lang="en-US" dirty="0">
                <a:latin typeface="Dubai Medium" panose="020B0603030403030204" pitchFamily="34" charset="-78"/>
                <a:cs typeface="Dubai Medium" panose="020B0603030403030204" pitchFamily="34" charset="-78"/>
              </a:rPr>
              <a:t>Chester County Hospital. (2021). "Health e-Living: Simplifying Organ Donation Registration Through Digital Platforms." Chester County Health Blog.</a:t>
            </a:r>
          </a:p>
          <a:p>
            <a:pPr marL="457200" indent="-457200">
              <a:buAutoNum type="arabicPeriod"/>
            </a:pPr>
            <a:r>
              <a:rPr lang="en-US" dirty="0">
                <a:latin typeface="Dubai Medium" panose="020B0603030403030204" pitchFamily="34" charset="-78"/>
                <a:cs typeface="Dubai Medium" panose="020B0603030403030204" pitchFamily="34" charset="-78"/>
              </a:rPr>
              <a:t> Transplant Quebec. (2019). "Improving Organ Donation and Transplantation Outcomes Through Public Education and Digital Solutions." Transplant Quebec Annual Report.</a:t>
            </a:r>
          </a:p>
        </p:txBody>
      </p:sp>
      <p:sp>
        <p:nvSpPr>
          <p:cNvPr id="4" name="Slide Number Placeholder 3">
            <a:extLst>
              <a:ext uri="{FF2B5EF4-FFF2-40B4-BE49-F238E27FC236}">
                <a16:creationId xmlns:a16="http://schemas.microsoft.com/office/drawing/2014/main" id="{BED4BA5D-4078-8D6F-FA9F-6D982B9631F2}"/>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4118051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B6DFA9-2544-0D2D-936E-9FDD08C8A303}"/>
              </a:ext>
            </a:extLst>
          </p:cNvPr>
          <p:cNvSpPr>
            <a:spLocks noGrp="1"/>
          </p:cNvSpPr>
          <p:nvPr>
            <p:ph sz="quarter" idx="10"/>
          </p:nvPr>
        </p:nvSpPr>
        <p:spPr>
          <a:xfrm>
            <a:off x="651641" y="1040524"/>
            <a:ext cx="10962290" cy="5307724"/>
          </a:xfrm>
        </p:spPr>
        <p:txBody>
          <a:bodyPr>
            <a:normAutofit/>
          </a:bodyPr>
          <a:lstStyle/>
          <a:p>
            <a:pPr marL="457200" indent="-457200">
              <a:buAutoNum type="arabicPeriod" startAt="7"/>
            </a:pPr>
            <a:r>
              <a:rPr lang="en-US" dirty="0">
                <a:latin typeface="Dubai Medium" panose="020B0603030403030204" pitchFamily="34" charset="-78"/>
                <a:cs typeface="Dubai Medium" panose="020B0603030403030204" pitchFamily="34" charset="-78"/>
              </a:rPr>
              <a:t>Aziz, A., et al. (2021). "A Comparative Study of Organ Donation Systems Across the World: Challenges and Technological Solutions." Global Health Journal, 27(2), 98-105.</a:t>
            </a:r>
          </a:p>
          <a:p>
            <a:pPr marL="457200" indent="-457200">
              <a:buAutoNum type="arabicPeriod" startAt="7"/>
            </a:pPr>
            <a:r>
              <a:rPr lang="en-US" dirty="0">
                <a:latin typeface="Dubai Medium" panose="020B0603030403030204" pitchFamily="34" charset="-78"/>
                <a:cs typeface="Dubai Medium" panose="020B0603030403030204" pitchFamily="34" charset="-78"/>
              </a:rPr>
              <a:t> Tepper, A., &amp; Bhattacharya, S. (2020). "The Role of Artificial Intelligence in Organ Transplantation: Enhancing Matching and Predicting Outcomes." Journal of Medical Artificial Intelligence, 15(3), 208-214.</a:t>
            </a:r>
          </a:p>
          <a:p>
            <a:pPr marL="457200" indent="-457200">
              <a:buAutoNum type="arabicPeriod" startAt="7"/>
            </a:pPr>
            <a:r>
              <a:rPr lang="en-US" dirty="0">
                <a:latin typeface="Dubai Medium" panose="020B0603030403030204" pitchFamily="34" charset="-78"/>
                <a:cs typeface="Dubai Medium" panose="020B0603030403030204" pitchFamily="34" charset="-78"/>
              </a:rPr>
              <a:t> Stewart, M., &amp; Harris, A. (2018). "The Impact of Public Awareness Campaigns on Organ Donation Registration: A Global Perspective." Transplantation Proceedings, 50(9), 2654-2660.</a:t>
            </a:r>
          </a:p>
          <a:p>
            <a:pPr marL="457200" indent="-457200">
              <a:buAutoNum type="arabicPeriod" startAt="7"/>
            </a:pPr>
            <a:r>
              <a:rPr lang="en-US" dirty="0">
                <a:latin typeface="Dubai Medium" panose="020B0603030403030204" pitchFamily="34" charset="-78"/>
                <a:cs typeface="Dubai Medium" panose="020B0603030403030204" pitchFamily="34" charset="-78"/>
              </a:rPr>
              <a:t>Smith, J. L., &amp; Turner, R. (2017). "Advances in Organ Donation Technology: The Role of Mobile Applications in Increasing Donor Registrations." Journal of Organ Transplantation Technology, 21(1), 34-42.</a:t>
            </a:r>
          </a:p>
          <a:p>
            <a:pPr marL="457200" indent="-457200">
              <a:buAutoNum type="arabicPeriod" startAt="7"/>
            </a:pPr>
            <a:r>
              <a:rPr lang="en-US" dirty="0">
                <a:latin typeface="Dubai Medium" panose="020B0603030403030204" pitchFamily="34" charset="-78"/>
                <a:cs typeface="Dubai Medium" panose="020B0603030403030204" pitchFamily="34" charset="-78"/>
              </a:rPr>
              <a:t> World Health Organization. (2020). "Global Status Report on Organ Donation and Transplantation." World Health Organization.</a:t>
            </a:r>
          </a:p>
          <a:p>
            <a:pPr marL="457200" indent="-457200">
              <a:buAutoNum type="arabicPeriod" startAt="7"/>
            </a:pPr>
            <a:r>
              <a:rPr lang="en-US" dirty="0">
                <a:latin typeface="Dubai Medium" panose="020B0603030403030204" pitchFamily="34" charset="-78"/>
                <a:cs typeface="Dubai Medium" panose="020B0603030403030204" pitchFamily="34" charset="-78"/>
              </a:rPr>
              <a:t> Reddy, M., &amp; Kumar, V. (2019). "The Future of Organ Donation: Incorporating Data Analytics for Real-Time Allocation and Matching." Journal of Health Informatics, 14(2), 112-120.</a:t>
            </a:r>
            <a:endParaRPr lang="en-IN" dirty="0">
              <a:latin typeface="Dubai Medium" panose="020B0603030403030204" pitchFamily="34" charset="-78"/>
              <a:cs typeface="Dubai Medium" panose="020B0603030403030204" pitchFamily="34" charset="-78"/>
            </a:endParaRPr>
          </a:p>
        </p:txBody>
      </p:sp>
      <p:sp>
        <p:nvSpPr>
          <p:cNvPr id="4" name="Slide Number Placeholder 3">
            <a:extLst>
              <a:ext uri="{FF2B5EF4-FFF2-40B4-BE49-F238E27FC236}">
                <a16:creationId xmlns:a16="http://schemas.microsoft.com/office/drawing/2014/main" id="{81E9F36E-4153-9409-3819-7F575199595C}"/>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707718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0817EF-ED3D-BDDA-C376-3961874ACD21}"/>
              </a:ext>
            </a:extLst>
          </p:cNvPr>
          <p:cNvSpPr>
            <a:spLocks noGrp="1"/>
          </p:cNvSpPr>
          <p:nvPr>
            <p:ph type="title"/>
          </p:nvPr>
        </p:nvSpPr>
        <p:spPr>
          <a:xfrm>
            <a:off x="914400" y="-2097156"/>
            <a:ext cx="7534656" cy="1103244"/>
          </a:xfrm>
        </p:spPr>
        <p:txBody>
          <a:bodyPr/>
          <a:lstStyle/>
          <a:p>
            <a:pPr algn="l"/>
            <a:endParaRPr lang="en-IN" sz="2400" dirty="0"/>
          </a:p>
        </p:txBody>
      </p:sp>
      <p:sp>
        <p:nvSpPr>
          <p:cNvPr id="6" name="Content Placeholder 5">
            <a:extLst>
              <a:ext uri="{FF2B5EF4-FFF2-40B4-BE49-F238E27FC236}">
                <a16:creationId xmlns:a16="http://schemas.microsoft.com/office/drawing/2014/main" id="{00E741D8-09EF-139D-D89F-348A27404226}"/>
              </a:ext>
            </a:extLst>
          </p:cNvPr>
          <p:cNvSpPr>
            <a:spLocks noGrp="1"/>
          </p:cNvSpPr>
          <p:nvPr>
            <p:ph sz="quarter" idx="10"/>
          </p:nvPr>
        </p:nvSpPr>
        <p:spPr>
          <a:xfrm>
            <a:off x="914400" y="1212574"/>
            <a:ext cx="8796130" cy="4183114"/>
          </a:xfrm>
        </p:spPr>
        <p:txBody>
          <a:bodyPr>
            <a:normAutofit/>
          </a:bodyPr>
          <a:lstStyle/>
          <a:p>
            <a:pPr marL="457200" indent="-457200">
              <a:buAutoNum type="arabicPeriod" startAt="13"/>
            </a:pPr>
            <a:r>
              <a:rPr lang="en-US" dirty="0">
                <a:latin typeface="Dubai Medium" panose="020B0603030403030204" pitchFamily="34" charset="-78"/>
                <a:cs typeface="Dubai Medium" panose="020B0603030403030204" pitchFamily="34" charset="-78"/>
              </a:rPr>
              <a:t>Smith, A., Johnson, R., &amp; Lee, C. (2020)."Development of an Online Organ Donor Registry for Improved Organ Matching. "International Journal of Medical Informatics, 45(3), 123-130</a:t>
            </a:r>
          </a:p>
          <a:p>
            <a:pPr marL="457200" indent="-457200">
              <a:buAutoNum type="arabicPeriod" startAt="13"/>
            </a:pPr>
            <a:r>
              <a:rPr lang="en-US" dirty="0">
                <a:latin typeface="Dubai Medium" panose="020B0603030403030204" pitchFamily="34" charset="-78"/>
                <a:cs typeface="Dubai Medium" panose="020B0603030403030204" pitchFamily="34" charset="-78"/>
              </a:rPr>
              <a:t>Kumar, S., &amp; Sharma, P. (2019). "Challenges and Solutions in Organ Donation Management Systems. "Journal of Healthcare Technology, 12(2), 87-95.</a:t>
            </a:r>
          </a:p>
          <a:p>
            <a:pPr marL="457200" indent="-457200">
              <a:buAutoNum type="arabicPeriod" startAt="13"/>
            </a:pPr>
            <a:r>
              <a:rPr lang="en-US" dirty="0">
                <a:latin typeface="Dubai Medium" panose="020B0603030403030204" pitchFamily="34" charset="-78"/>
                <a:cs typeface="Dubai Medium" panose="020B0603030403030204" pitchFamily="34" charset="-78"/>
              </a:rPr>
              <a:t>Gupta, R., &amp; Singh, M. (2020)."Ensuring Data Privacy and Security in Healthcare Systems. "Advances in Cloud Computing and Secure Data, 18(1), 45-56.</a:t>
            </a:r>
          </a:p>
          <a:p>
            <a:pPr marL="0" indent="0">
              <a:buNone/>
            </a:pPr>
            <a:r>
              <a:rPr lang="en-US" dirty="0">
                <a:latin typeface="Dubai Medium" panose="020B0603030403030204" pitchFamily="34" charset="-78"/>
                <a:cs typeface="Dubai Medium" panose="020B0603030403030204" pitchFamily="34" charset="-78"/>
              </a:rPr>
              <a:t>   </a:t>
            </a:r>
            <a:endParaRPr lang="en-IN" dirty="0">
              <a:latin typeface="Dubai Medium" panose="020B0603030403030204" pitchFamily="34" charset="-78"/>
              <a:cs typeface="Dubai Medium" panose="020B0603030403030204" pitchFamily="34" charset="-78"/>
            </a:endParaRPr>
          </a:p>
        </p:txBody>
      </p:sp>
      <p:sp>
        <p:nvSpPr>
          <p:cNvPr id="4" name="Slide Number Placeholder 3">
            <a:extLst>
              <a:ext uri="{FF2B5EF4-FFF2-40B4-BE49-F238E27FC236}">
                <a16:creationId xmlns:a16="http://schemas.microsoft.com/office/drawing/2014/main" id="{D923D899-7D2D-0BFC-793E-BC12D65FF677}"/>
              </a:ext>
            </a:extLst>
          </p:cNvPr>
          <p:cNvSpPr>
            <a:spLocks noGrp="1"/>
          </p:cNvSpPr>
          <p:nvPr>
            <p:ph type="sldNum" sz="quarter" idx="4"/>
          </p:nvPr>
        </p:nvSpPr>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1490903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endParaRPr lang="en-US" dirty="0"/>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dirty="0">
                <a:latin typeface="Dubai Medium" panose="020B0603030403030204" pitchFamily="34" charset="-78"/>
                <a:cs typeface="Dubai Medium" panose="020B0603030403030204" pitchFamily="34" charset="-78"/>
              </a:rPr>
              <a:t>For the attention </a:t>
            </a:r>
          </a:p>
        </p:txBody>
      </p:sp>
      <p:pic>
        <p:nvPicPr>
          <p:cNvPr id="5122" name="Picture 2" descr="1,600+ Thank You Presentation Stock Photos, Pictures &amp; Royalty-Free Images  - iStock | Thank you for listening, Thank you sign, Thank you note">
            <a:extLst>
              <a:ext uri="{FF2B5EF4-FFF2-40B4-BE49-F238E27FC236}">
                <a16:creationId xmlns:a16="http://schemas.microsoft.com/office/drawing/2014/main" id="{85299AF0-D142-3F65-6551-6C4EC0BA3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{1424DFAD-4394-4097-B256-6791042981F5}tf11964407_win32</Template>
  <TotalTime>528</TotalTime>
  <Words>1673</Words>
  <Application>Microsoft Office PowerPoint</Application>
  <PresentationFormat>Widescreen</PresentationFormat>
  <Paragraphs>112</Paragraphs>
  <Slides>21</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Arial</vt:lpstr>
      <vt:lpstr>Arial Rounded MT Bold</vt:lpstr>
      <vt:lpstr>Calibri</vt:lpstr>
      <vt:lpstr>Courier New</vt:lpstr>
      <vt:lpstr>Dubai Medium</vt:lpstr>
      <vt:lpstr>Gill Sans Nova Light</vt:lpstr>
      <vt:lpstr>Sagona Book</vt:lpstr>
      <vt:lpstr>Custom</vt:lpstr>
      <vt:lpstr>PowerPoint Presentation</vt:lpstr>
      <vt:lpstr> Blood Bank and Organ Donation Management System</vt:lpstr>
      <vt:lpstr>TABLE OF CONTENT:</vt:lpstr>
      <vt:lpstr>Abstract</vt:lpstr>
      <vt:lpstr> Introduction </vt:lpstr>
      <vt:lpstr>Problem statement</vt:lpstr>
      <vt:lpstr>Proposed solution </vt:lpstr>
      <vt:lpstr>Literature survey</vt:lpstr>
      <vt:lpstr>PowerPoint Presentation</vt:lpstr>
      <vt:lpstr> Software requirements </vt:lpstr>
      <vt:lpstr>  Design and methodology</vt:lpstr>
      <vt:lpstr>PowerPoint Presentation</vt:lpstr>
      <vt:lpstr>PowerPoint Presentation</vt:lpstr>
      <vt:lpstr>PowerPoint Presentation</vt:lpstr>
      <vt:lpstr>PowerPoint Presentation</vt:lpstr>
      <vt:lpstr>PowerPoint Presentation</vt:lpstr>
      <vt:lpstr>Conclusion </vt:lpstr>
      <vt:lpstr>References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bhagyashree tambake</dc:creator>
  <cp:lastModifiedBy>Madiha Azam</cp:lastModifiedBy>
  <cp:revision>21</cp:revision>
  <dcterms:created xsi:type="dcterms:W3CDTF">2024-11-21T14:44:40Z</dcterms:created>
  <dcterms:modified xsi:type="dcterms:W3CDTF">2025-04-03T13:54:41Z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